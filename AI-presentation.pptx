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Open Sans" panose="020B0606030504020204" pitchFamily="34" charset="0"/>
      <p:regular r:id="rId15"/>
    </p:embeddedFont>
    <p:embeddedFont>
      <p:font typeface="Poppins" panose="00000500000000000000" pitchFamily="2" charset="0"/>
      <p:regular r:id="rId16"/>
    </p:embeddedFont>
    <p:embeddedFont>
      <p:font typeface="Poppi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6D1B0-29FF-421D-A56A-99BC4ACA59C0}" type="datetimeFigureOut">
              <a:rPr lang="en-GB" smtClean="0"/>
              <a:t>20/12/2024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5D6B8C-9882-42D3-A467-51662593E5DE}" type="slidenum">
              <a:rPr lang="en-GB" smtClean="0"/>
              <a:t>‹#›</a:t>
            </a:fld>
            <a:endParaRPr lang="en-GB"/>
          </a:p>
        </p:txBody>
      </p:sp>
    </p:spTree>
    <p:extLst>
      <p:ext uri="{BB962C8B-B14F-4D97-AF65-F5344CB8AC3E}">
        <p14:creationId xmlns:p14="http://schemas.microsoft.com/office/powerpoint/2010/main" val="191604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A5D6B8C-9882-42D3-A467-51662593E5DE}" type="slidenum">
              <a:rPr lang="en-GB" smtClean="0"/>
              <a:t>1</a:t>
            </a:fld>
            <a:endParaRPr lang="en-GB"/>
          </a:p>
        </p:txBody>
      </p:sp>
    </p:spTree>
    <p:extLst>
      <p:ext uri="{BB962C8B-B14F-4D97-AF65-F5344CB8AC3E}">
        <p14:creationId xmlns:p14="http://schemas.microsoft.com/office/powerpoint/2010/main" val="2516686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2024-12-20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2024-12-20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94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333" b="-2333"/>
            </a:stretch>
          </a:blipFill>
        </p:spPr>
        <p:txBody>
          <a:bodyPr/>
          <a:lstStyle/>
          <a:p>
            <a:pPr algn="ctr"/>
            <a:endParaRPr lang="en-GB" dirty="0"/>
          </a:p>
        </p:txBody>
      </p:sp>
      <p:sp>
        <p:nvSpPr>
          <p:cNvPr id="3" name="Freeform 3"/>
          <p:cNvSpPr/>
          <p:nvPr/>
        </p:nvSpPr>
        <p:spPr>
          <a:xfrm rot="-709034">
            <a:off x="14399578" y="-2199651"/>
            <a:ext cx="5843512" cy="5880861"/>
          </a:xfrm>
          <a:custGeom>
            <a:avLst/>
            <a:gdLst/>
            <a:ahLst/>
            <a:cxnLst/>
            <a:rect l="l" t="t" r="r" b="b"/>
            <a:pathLst>
              <a:path w="5843512" h="5880861">
                <a:moveTo>
                  <a:pt x="0" y="0"/>
                </a:moveTo>
                <a:lnTo>
                  <a:pt x="5843511" y="0"/>
                </a:lnTo>
                <a:lnTo>
                  <a:pt x="5843511" y="5880861"/>
                </a:lnTo>
                <a:lnTo>
                  <a:pt x="0" y="58808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2867302" flipH="1">
            <a:off x="15344468" y="-412199"/>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5" name="Freeform 5"/>
          <p:cNvSpPr/>
          <p:nvPr/>
        </p:nvSpPr>
        <p:spPr>
          <a:xfrm rot="5460838">
            <a:off x="14891406" y="6807481"/>
            <a:ext cx="6392809" cy="6433669"/>
          </a:xfrm>
          <a:custGeom>
            <a:avLst/>
            <a:gdLst/>
            <a:ahLst/>
            <a:cxnLst/>
            <a:rect l="l" t="t" r="r" b="b"/>
            <a:pathLst>
              <a:path w="6392809" h="6433669">
                <a:moveTo>
                  <a:pt x="0" y="0"/>
                </a:moveTo>
                <a:lnTo>
                  <a:pt x="6392808" y="0"/>
                </a:lnTo>
                <a:lnTo>
                  <a:pt x="6392808" y="6433669"/>
                </a:lnTo>
                <a:lnTo>
                  <a:pt x="0" y="64336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Freeform 6"/>
          <p:cNvSpPr/>
          <p:nvPr/>
        </p:nvSpPr>
        <p:spPr>
          <a:xfrm rot="-10800000">
            <a:off x="15064977" y="7412911"/>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7" name="Freeform 7"/>
          <p:cNvSpPr/>
          <p:nvPr/>
        </p:nvSpPr>
        <p:spPr>
          <a:xfrm rot="10090965">
            <a:off x="-2007843" y="6460378"/>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Freeform 8"/>
          <p:cNvSpPr/>
          <p:nvPr/>
        </p:nvSpPr>
        <p:spPr>
          <a:xfrm rot="-7932697" flipH="1">
            <a:off x="874234" y="6438987"/>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9" name="Freeform 9"/>
          <p:cNvSpPr/>
          <p:nvPr/>
        </p:nvSpPr>
        <p:spPr>
          <a:xfrm rot="-5339161">
            <a:off x="-3048968" y="-3099562"/>
            <a:ext cx="6392809" cy="6433669"/>
          </a:xfrm>
          <a:custGeom>
            <a:avLst/>
            <a:gdLst/>
            <a:ahLst/>
            <a:cxnLst/>
            <a:rect l="l" t="t" r="r" b="b"/>
            <a:pathLst>
              <a:path w="6392809" h="6433669">
                <a:moveTo>
                  <a:pt x="0" y="0"/>
                </a:moveTo>
                <a:lnTo>
                  <a:pt x="6392809" y="0"/>
                </a:lnTo>
                <a:lnTo>
                  <a:pt x="6392809" y="6433670"/>
                </a:lnTo>
                <a:lnTo>
                  <a:pt x="0" y="6433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580290" y="477879"/>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1" name="TextBox 11"/>
          <p:cNvSpPr txBox="1"/>
          <p:nvPr/>
        </p:nvSpPr>
        <p:spPr>
          <a:xfrm>
            <a:off x="3605089" y="-46944"/>
            <a:ext cx="10603706" cy="1856014"/>
          </a:xfrm>
          <a:prstGeom prst="rect">
            <a:avLst/>
          </a:prstGeom>
        </p:spPr>
        <p:txBody>
          <a:bodyPr lIns="0" tIns="0" rIns="0" bIns="0" rtlCol="0" anchor="t">
            <a:spAutoFit/>
          </a:bodyPr>
          <a:lstStyle/>
          <a:p>
            <a:pPr algn="ctr">
              <a:lnSpc>
                <a:spcPts val="14365"/>
              </a:lnSpc>
              <a:spcBef>
                <a:spcPct val="0"/>
              </a:spcBef>
            </a:pPr>
            <a:r>
              <a:rPr lang="en-US" sz="10260" dirty="0">
                <a:solidFill>
                  <a:srgbClr val="FFFFFF"/>
                </a:solidFill>
                <a:latin typeface="Poppins"/>
                <a:ea typeface="Poppins"/>
                <a:cs typeface="Poppins"/>
                <a:sym typeface="Poppins"/>
              </a:rPr>
              <a:t>TEAM MEMBERS</a:t>
            </a:r>
          </a:p>
        </p:txBody>
      </p:sp>
      <p:sp>
        <p:nvSpPr>
          <p:cNvPr id="12" name="TextBox 12"/>
          <p:cNvSpPr txBox="1"/>
          <p:nvPr/>
        </p:nvSpPr>
        <p:spPr>
          <a:xfrm>
            <a:off x="2827864" y="3534423"/>
            <a:ext cx="12603131" cy="1955800"/>
          </a:xfrm>
          <a:prstGeom prst="rect">
            <a:avLst/>
          </a:prstGeom>
        </p:spPr>
        <p:txBody>
          <a:bodyPr wrap="square" lIns="0" tIns="0" rIns="0" bIns="0" rtlCol="0" anchor="t">
            <a:spAutoFit/>
          </a:bodyPr>
          <a:lstStyle/>
          <a:p>
            <a:pPr algn="ctr">
              <a:lnSpc>
                <a:spcPts val="7699"/>
              </a:lnSpc>
            </a:pPr>
            <a:r>
              <a:rPr lang="en-US" sz="5499" b="1" dirty="0">
                <a:solidFill>
                  <a:srgbClr val="FFFFFF"/>
                </a:solidFill>
                <a:latin typeface="Poppins Bold"/>
                <a:ea typeface="Poppins Bold"/>
                <a:cs typeface="Poppins Bold"/>
                <a:sym typeface="Poppins Bold"/>
              </a:rPr>
              <a:t>JONATHAN ATEF MORES : 2200589</a:t>
            </a:r>
          </a:p>
          <a:p>
            <a:pPr algn="ctr">
              <a:lnSpc>
                <a:spcPts val="7699"/>
              </a:lnSpc>
              <a:spcBef>
                <a:spcPct val="0"/>
              </a:spcBef>
            </a:pPr>
            <a:endParaRPr lang="en-US" sz="5499" b="1" dirty="0">
              <a:solidFill>
                <a:srgbClr val="FFFFFF"/>
              </a:solidFill>
              <a:latin typeface="Poppins Bold"/>
              <a:ea typeface="Poppins Bold"/>
              <a:cs typeface="Poppins Bold"/>
              <a:sym typeface="Poppins Bold"/>
            </a:endParaRPr>
          </a:p>
        </p:txBody>
      </p:sp>
      <p:sp>
        <p:nvSpPr>
          <p:cNvPr id="13" name="TextBox 13"/>
          <p:cNvSpPr txBox="1"/>
          <p:nvPr/>
        </p:nvSpPr>
        <p:spPr>
          <a:xfrm>
            <a:off x="2621014" y="4909469"/>
            <a:ext cx="13498050" cy="1955800"/>
          </a:xfrm>
          <a:prstGeom prst="rect">
            <a:avLst/>
          </a:prstGeom>
        </p:spPr>
        <p:txBody>
          <a:bodyPr wrap="square" lIns="0" tIns="0" rIns="0" bIns="0" rtlCol="0" anchor="t">
            <a:spAutoFit/>
          </a:bodyPr>
          <a:lstStyle/>
          <a:p>
            <a:pPr algn="ctr">
              <a:lnSpc>
                <a:spcPts val="7699"/>
              </a:lnSpc>
            </a:pPr>
            <a:r>
              <a:rPr lang="en-US" sz="5499" b="1" dirty="0">
                <a:solidFill>
                  <a:srgbClr val="FFFFFF"/>
                </a:solidFill>
                <a:latin typeface="Poppins Bold"/>
                <a:ea typeface="Poppins Bold"/>
                <a:cs typeface="Poppins Bold"/>
                <a:sym typeface="Poppins Bold"/>
              </a:rPr>
              <a:t>IBRAHIM RAMZY IBRAHIM: 2200545</a:t>
            </a:r>
          </a:p>
          <a:p>
            <a:pPr algn="ctr">
              <a:lnSpc>
                <a:spcPts val="7699"/>
              </a:lnSpc>
              <a:spcBef>
                <a:spcPct val="0"/>
              </a:spcBef>
            </a:pPr>
            <a:endParaRPr lang="en-US" sz="5499" b="1" dirty="0">
              <a:solidFill>
                <a:srgbClr val="FFFFFF"/>
              </a:solidFill>
              <a:latin typeface="Poppins Bold"/>
              <a:ea typeface="Poppins Bold"/>
              <a:cs typeface="Poppins Bold"/>
              <a:sym typeface="Poppins Bold"/>
            </a:endParaRPr>
          </a:p>
        </p:txBody>
      </p:sp>
      <p:sp>
        <p:nvSpPr>
          <p:cNvPr id="14" name="TextBox 14"/>
          <p:cNvSpPr txBox="1"/>
          <p:nvPr/>
        </p:nvSpPr>
        <p:spPr>
          <a:xfrm>
            <a:off x="3179164" y="6237865"/>
            <a:ext cx="13280035" cy="1925464"/>
          </a:xfrm>
          <a:prstGeom prst="rect">
            <a:avLst/>
          </a:prstGeom>
        </p:spPr>
        <p:txBody>
          <a:bodyPr wrap="square" lIns="0" tIns="0" rIns="0" bIns="0" rtlCol="0" anchor="t">
            <a:spAutoFit/>
          </a:bodyPr>
          <a:lstStyle/>
          <a:p>
            <a:pPr algn="ctr">
              <a:lnSpc>
                <a:spcPts val="7699"/>
              </a:lnSpc>
            </a:pPr>
            <a:r>
              <a:rPr lang="en-US" sz="5499" b="1" dirty="0">
                <a:solidFill>
                  <a:srgbClr val="FFFFFF"/>
                </a:solidFill>
                <a:latin typeface="Poppins Bold"/>
                <a:ea typeface="Poppins Bold"/>
                <a:cs typeface="Poppins Bold"/>
                <a:sym typeface="Poppins Bold"/>
              </a:rPr>
              <a:t>MOHAMED HASSANY ALABD: 2200576</a:t>
            </a:r>
          </a:p>
          <a:p>
            <a:pPr algn="ctr">
              <a:lnSpc>
                <a:spcPts val="7699"/>
              </a:lnSpc>
              <a:spcBef>
                <a:spcPct val="0"/>
              </a:spcBef>
            </a:pPr>
            <a:endParaRPr lang="en-US" sz="5499" b="1" dirty="0">
              <a:solidFill>
                <a:srgbClr val="FFFFFF"/>
              </a:solidFill>
              <a:latin typeface="Poppins Bold"/>
              <a:ea typeface="Poppins Bold"/>
              <a:cs typeface="Poppins Bold"/>
              <a:sym typeface="Poppins Bold"/>
            </a:endParaRPr>
          </a:p>
        </p:txBody>
      </p:sp>
      <p:sp>
        <p:nvSpPr>
          <p:cNvPr id="15" name="TextBox 15"/>
          <p:cNvSpPr txBox="1"/>
          <p:nvPr/>
        </p:nvSpPr>
        <p:spPr>
          <a:xfrm>
            <a:off x="3003373" y="2259751"/>
            <a:ext cx="12281253" cy="1925464"/>
          </a:xfrm>
          <a:prstGeom prst="rect">
            <a:avLst/>
          </a:prstGeom>
        </p:spPr>
        <p:txBody>
          <a:bodyPr wrap="square" lIns="0" tIns="0" rIns="0" bIns="0" rtlCol="0" anchor="t">
            <a:spAutoFit/>
          </a:bodyPr>
          <a:lstStyle/>
          <a:p>
            <a:pPr algn="ctr">
              <a:lnSpc>
                <a:spcPts val="7699"/>
              </a:lnSpc>
            </a:pPr>
            <a:r>
              <a:rPr lang="en-US" sz="5499" b="1" dirty="0">
                <a:solidFill>
                  <a:srgbClr val="FFFFFF"/>
                </a:solidFill>
                <a:latin typeface="Poppins Bold"/>
                <a:ea typeface="Poppins Bold"/>
                <a:cs typeface="Poppins Bold"/>
                <a:sym typeface="Poppins Bold"/>
              </a:rPr>
              <a:t>MOHAMED REDA KILANY: 2200566</a:t>
            </a:r>
          </a:p>
          <a:p>
            <a:pPr algn="ctr">
              <a:lnSpc>
                <a:spcPts val="7699"/>
              </a:lnSpc>
              <a:spcBef>
                <a:spcPct val="0"/>
              </a:spcBef>
            </a:pPr>
            <a:endParaRPr lang="en-US" sz="5499" b="1" dirty="0">
              <a:solidFill>
                <a:srgbClr val="FFFFFF"/>
              </a:solidFill>
              <a:latin typeface="Poppins Bold"/>
              <a:ea typeface="Poppins Bold"/>
              <a:cs typeface="Poppins Bold"/>
              <a:sym typeface="Poppins Bo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669290" y="1546263"/>
            <a:ext cx="7474710" cy="7194474"/>
            <a:chOff x="30480" y="591820"/>
            <a:chExt cx="12736830" cy="12259310"/>
          </a:xfrm>
        </p:grpSpPr>
        <p:sp>
          <p:nvSpPr>
            <p:cNvPr id="3" name="Freeform 3"/>
            <p:cNvSpPr/>
            <p:nvPr/>
          </p:nvSpPr>
          <p:spPr>
            <a:xfrm>
              <a:off x="30480" y="591820"/>
              <a:ext cx="12736830" cy="12259310"/>
            </a:xfrm>
            <a:custGeom>
              <a:avLst/>
              <a:gdLst/>
              <a:ahLst/>
              <a:cxnLst/>
              <a:rect l="l" t="t" r="r" b="b"/>
              <a:pathLst>
                <a:path w="12736830" h="12259310">
                  <a:moveTo>
                    <a:pt x="11925300" y="4271010"/>
                  </a:moveTo>
                  <a:cubicBezTo>
                    <a:pt x="10819131" y="2120900"/>
                    <a:pt x="8590281"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19"/>
                    <a:pt x="1822450" y="10811510"/>
                    <a:pt x="2842260" y="11203940"/>
                  </a:cubicBezTo>
                  <a:cubicBezTo>
                    <a:pt x="5585460" y="12259310"/>
                    <a:pt x="8953500"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2"/>
              <a:stretch>
                <a:fillRect l="-243" t="-9431" r="243" b="837"/>
              </a:stretch>
            </a:blipFill>
          </p:spPr>
          <p:txBody>
            <a:bodyPr/>
            <a:lstStyle/>
            <a:p>
              <a:endParaRPr lang="en-GB"/>
            </a:p>
          </p:txBody>
        </p:sp>
      </p:grpSp>
      <p:sp>
        <p:nvSpPr>
          <p:cNvPr id="4" name="Freeform 4"/>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5"/>
          <p:cNvSpPr/>
          <p:nvPr/>
        </p:nvSpPr>
        <p:spPr>
          <a:xfrm rot="2867302" flipH="1">
            <a:off x="16506070" y="-261716"/>
            <a:ext cx="1362984" cy="2370408"/>
          </a:xfrm>
          <a:custGeom>
            <a:avLst/>
            <a:gdLst/>
            <a:ahLst/>
            <a:cxnLst/>
            <a:rect l="l" t="t" r="r" b="b"/>
            <a:pathLst>
              <a:path w="1362984" h="2370408">
                <a:moveTo>
                  <a:pt x="1362984" y="0"/>
                </a:moveTo>
                <a:lnTo>
                  <a:pt x="0" y="0"/>
                </a:lnTo>
                <a:lnTo>
                  <a:pt x="0" y="2370407"/>
                </a:lnTo>
                <a:lnTo>
                  <a:pt x="1362984" y="2370407"/>
                </a:lnTo>
                <a:lnTo>
                  <a:pt x="136298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 name="Freeform 6"/>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7" name="Freeform 7"/>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Freeform 8"/>
          <p:cNvSpPr/>
          <p:nvPr/>
        </p:nvSpPr>
        <p:spPr>
          <a:xfrm rot="10090965">
            <a:off x="-2007843" y="6460378"/>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rot="-7932697" flipH="1">
            <a:off x="874234" y="6438987"/>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rot="-5339161">
            <a:off x="-3048968" y="-3099562"/>
            <a:ext cx="6392809" cy="6433669"/>
          </a:xfrm>
          <a:custGeom>
            <a:avLst/>
            <a:gdLst/>
            <a:ahLst/>
            <a:cxnLst/>
            <a:rect l="l" t="t" r="r" b="b"/>
            <a:pathLst>
              <a:path w="6392809" h="6433669">
                <a:moveTo>
                  <a:pt x="0" y="0"/>
                </a:moveTo>
                <a:lnTo>
                  <a:pt x="6392809" y="0"/>
                </a:lnTo>
                <a:lnTo>
                  <a:pt x="6392809" y="6433670"/>
                </a:lnTo>
                <a:lnTo>
                  <a:pt x="0" y="64336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1" name="Freeform 11"/>
          <p:cNvSpPr/>
          <p:nvPr/>
        </p:nvSpPr>
        <p:spPr>
          <a:xfrm>
            <a:off x="580290" y="477879"/>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2" name="TextBox 12"/>
          <p:cNvSpPr txBox="1"/>
          <p:nvPr/>
        </p:nvSpPr>
        <p:spPr>
          <a:xfrm>
            <a:off x="10152758" y="3077177"/>
            <a:ext cx="7106542" cy="984250"/>
          </a:xfrm>
          <a:prstGeom prst="rect">
            <a:avLst/>
          </a:prstGeom>
        </p:spPr>
        <p:txBody>
          <a:bodyPr lIns="0" tIns="0" rIns="0" bIns="0" rtlCol="0" anchor="t">
            <a:spAutoFit/>
          </a:bodyPr>
          <a:lstStyle/>
          <a:p>
            <a:pPr algn="l">
              <a:lnSpc>
                <a:spcPts val="7699"/>
              </a:lnSpc>
              <a:spcBef>
                <a:spcPct val="0"/>
              </a:spcBef>
            </a:pPr>
            <a:r>
              <a:rPr lang="en-US" sz="5499" b="1">
                <a:solidFill>
                  <a:srgbClr val="B6F61A"/>
                </a:solidFill>
                <a:latin typeface="Poppins Bold"/>
                <a:ea typeface="Poppins Bold"/>
                <a:cs typeface="Poppins Bold"/>
                <a:sym typeface="Poppins Bold"/>
              </a:rPr>
              <a:t>INTRODUCTION</a:t>
            </a:r>
          </a:p>
        </p:txBody>
      </p:sp>
      <p:sp>
        <p:nvSpPr>
          <p:cNvPr id="13" name="TextBox 13"/>
          <p:cNvSpPr txBox="1"/>
          <p:nvPr/>
        </p:nvSpPr>
        <p:spPr>
          <a:xfrm>
            <a:off x="10152758" y="2245327"/>
            <a:ext cx="7106542" cy="984250"/>
          </a:xfrm>
          <a:prstGeom prst="rect">
            <a:avLst/>
          </a:prstGeom>
        </p:spPr>
        <p:txBody>
          <a:bodyPr lIns="0" tIns="0" rIns="0" bIns="0" rtlCol="0" anchor="t">
            <a:spAutoFit/>
          </a:bodyPr>
          <a:lstStyle/>
          <a:p>
            <a:pPr algn="l">
              <a:lnSpc>
                <a:spcPts val="7699"/>
              </a:lnSpc>
              <a:spcBef>
                <a:spcPct val="0"/>
              </a:spcBef>
            </a:pPr>
            <a:r>
              <a:rPr lang="en-US" sz="5499">
                <a:solidFill>
                  <a:srgbClr val="FFFFFF"/>
                </a:solidFill>
                <a:latin typeface="Poppins"/>
                <a:ea typeface="Poppins"/>
                <a:cs typeface="Poppins"/>
                <a:sym typeface="Poppins"/>
              </a:rPr>
              <a:t>PROJECT</a:t>
            </a:r>
          </a:p>
        </p:txBody>
      </p:sp>
      <p:sp>
        <p:nvSpPr>
          <p:cNvPr id="14" name="TextBox 14"/>
          <p:cNvSpPr txBox="1"/>
          <p:nvPr/>
        </p:nvSpPr>
        <p:spPr>
          <a:xfrm>
            <a:off x="10152758" y="4052512"/>
            <a:ext cx="6429561" cy="2101850"/>
          </a:xfrm>
          <a:prstGeom prst="rect">
            <a:avLst/>
          </a:prstGeom>
        </p:spPr>
        <p:txBody>
          <a:bodyPr lIns="0" tIns="0" rIns="0" bIns="0" rtlCol="0" anchor="t">
            <a:spAutoFit/>
          </a:bodyPr>
          <a:lstStyle/>
          <a:p>
            <a:pPr algn="l">
              <a:lnSpc>
                <a:spcPts val="2799"/>
              </a:lnSpc>
              <a:spcBef>
                <a:spcPct val="0"/>
              </a:spcBef>
            </a:pPr>
            <a:r>
              <a:rPr lang="en-US" sz="1999" dirty="0">
                <a:solidFill>
                  <a:srgbClr val="FFFFFF"/>
                </a:solidFill>
                <a:latin typeface="Open Sans"/>
                <a:ea typeface="Open Sans"/>
                <a:cs typeface="Open Sans"/>
                <a:sym typeface="Open Sans"/>
              </a:rPr>
              <a:t>The main part of the game is the snake which the user is supposed to navigate throughout the screen. While navigating, as the snake eats a fruit, it grows in length. The score is displayed based on the length of the snake. The game ends if the snake hits its own body or hits the wall.</a:t>
            </a:r>
          </a:p>
        </p:txBody>
      </p:sp>
      <p:sp>
        <p:nvSpPr>
          <p:cNvPr id="15" name="TextBox 15"/>
          <p:cNvSpPr txBox="1"/>
          <p:nvPr/>
        </p:nvSpPr>
        <p:spPr>
          <a:xfrm>
            <a:off x="10137768" y="6977297"/>
            <a:ext cx="6133328" cy="2101850"/>
          </a:xfrm>
          <a:prstGeom prst="rect">
            <a:avLst/>
          </a:prstGeom>
        </p:spPr>
        <p:txBody>
          <a:bodyPr lIns="0" tIns="0" rIns="0" bIns="0" rtlCol="0" anchor="t">
            <a:spAutoFit/>
          </a:bodyPr>
          <a:lstStyle/>
          <a:p>
            <a:pPr algn="l">
              <a:lnSpc>
                <a:spcPts val="2799"/>
              </a:lnSpc>
              <a:spcBef>
                <a:spcPct val="0"/>
              </a:spcBef>
            </a:pPr>
            <a:r>
              <a:rPr lang="en-US" sz="1999" dirty="0">
                <a:solidFill>
                  <a:srgbClr val="FFFFFF"/>
                </a:solidFill>
                <a:latin typeface="Open Sans"/>
                <a:ea typeface="Open Sans"/>
                <a:cs typeface="Open Sans"/>
                <a:sym typeface="Open Sans"/>
              </a:rPr>
              <a:t>The Snake Sprite: The user controls this using a controller. Wall Sprites: The boundary of the game. Apple Sprites: These are the food items the snake is supposed to eat to grow in length. Score Display: This score starts from 0 and increases by one every time the snake consumes an Apple.</a:t>
            </a:r>
          </a:p>
        </p:txBody>
      </p:sp>
      <p:sp>
        <p:nvSpPr>
          <p:cNvPr id="16" name="TextBox 16"/>
          <p:cNvSpPr txBox="1"/>
          <p:nvPr/>
        </p:nvSpPr>
        <p:spPr>
          <a:xfrm>
            <a:off x="9753600" y="6237865"/>
            <a:ext cx="4934842" cy="534890"/>
          </a:xfrm>
          <a:prstGeom prst="rect">
            <a:avLst/>
          </a:prstGeom>
        </p:spPr>
        <p:txBody>
          <a:bodyPr wrap="square" lIns="0" tIns="0" rIns="0" bIns="0" rtlCol="0" anchor="t">
            <a:spAutoFit/>
          </a:bodyPr>
          <a:lstStyle/>
          <a:p>
            <a:pPr algn="ctr">
              <a:lnSpc>
                <a:spcPts val="4356"/>
              </a:lnSpc>
              <a:spcBef>
                <a:spcPct val="0"/>
              </a:spcBef>
            </a:pPr>
            <a:r>
              <a:rPr lang="en-US" sz="3112" b="1" dirty="0">
                <a:solidFill>
                  <a:srgbClr val="B6F61A"/>
                </a:solidFill>
                <a:latin typeface="Poppins Bold"/>
                <a:ea typeface="Poppins Bold"/>
                <a:cs typeface="Poppins Bold"/>
                <a:sym typeface="Poppins Bold"/>
              </a:rPr>
              <a:t>GAME COMPONENTS: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10090965">
            <a:off x="-1783347" y="8087572"/>
            <a:ext cx="4370918" cy="4398856"/>
          </a:xfrm>
          <a:custGeom>
            <a:avLst/>
            <a:gdLst/>
            <a:ahLst/>
            <a:cxnLst/>
            <a:rect l="l" t="t" r="r" b="b"/>
            <a:pathLst>
              <a:path w="4370918" h="4398856">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7932697" flipH="1">
            <a:off x="467093" y="8687001"/>
            <a:ext cx="1123215" cy="1953417"/>
          </a:xfrm>
          <a:custGeom>
            <a:avLst/>
            <a:gdLst/>
            <a:ahLst/>
            <a:cxnLst/>
            <a:rect l="l" t="t" r="r" b="b"/>
            <a:pathLst>
              <a:path w="1123215" h="1953417">
                <a:moveTo>
                  <a:pt x="1123214" y="0"/>
                </a:moveTo>
                <a:lnTo>
                  <a:pt x="0" y="0"/>
                </a:lnTo>
                <a:lnTo>
                  <a:pt x="0" y="1953417"/>
                </a:lnTo>
                <a:lnTo>
                  <a:pt x="1123214" y="1953417"/>
                </a:lnTo>
                <a:lnTo>
                  <a:pt x="112321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709034">
            <a:off x="14868560" y="-2239030"/>
            <a:ext cx="5414219" cy="5448824"/>
          </a:xfrm>
          <a:custGeom>
            <a:avLst/>
            <a:gdLst/>
            <a:ahLst/>
            <a:cxnLst/>
            <a:rect l="l" t="t" r="r" b="b"/>
            <a:pathLst>
              <a:path w="5414219" h="5448824">
                <a:moveTo>
                  <a:pt x="0" y="0"/>
                </a:moveTo>
                <a:lnTo>
                  <a:pt x="5414219" y="0"/>
                </a:lnTo>
                <a:lnTo>
                  <a:pt x="5414219" y="5448824"/>
                </a:lnTo>
                <a:lnTo>
                  <a:pt x="0" y="54488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rot="-5339161">
            <a:off x="-3048968" y="-3099562"/>
            <a:ext cx="6392809" cy="6433669"/>
          </a:xfrm>
          <a:custGeom>
            <a:avLst/>
            <a:gdLst/>
            <a:ahLst/>
            <a:cxnLst/>
            <a:rect l="l" t="t" r="r" b="b"/>
            <a:pathLst>
              <a:path w="6392809" h="6433669">
                <a:moveTo>
                  <a:pt x="0" y="0"/>
                </a:moveTo>
                <a:lnTo>
                  <a:pt x="6392809" y="0"/>
                </a:lnTo>
                <a:lnTo>
                  <a:pt x="6392809" y="6433670"/>
                </a:lnTo>
                <a:lnTo>
                  <a:pt x="0" y="6433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a:off x="580290" y="477879"/>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Freeform 8"/>
          <p:cNvSpPr/>
          <p:nvPr/>
        </p:nvSpPr>
        <p:spPr>
          <a:xfrm>
            <a:off x="6757555" y="0"/>
            <a:ext cx="11530445" cy="10201275"/>
          </a:xfrm>
          <a:custGeom>
            <a:avLst/>
            <a:gdLst/>
            <a:ahLst/>
            <a:cxnLst/>
            <a:rect l="l" t="t" r="r" b="b"/>
            <a:pathLst>
              <a:path w="11530445" h="10201275">
                <a:moveTo>
                  <a:pt x="0" y="0"/>
                </a:moveTo>
                <a:lnTo>
                  <a:pt x="11530445" y="0"/>
                </a:lnTo>
                <a:lnTo>
                  <a:pt x="11530445" y="10201275"/>
                </a:lnTo>
                <a:lnTo>
                  <a:pt x="0" y="10201275"/>
                </a:lnTo>
                <a:lnTo>
                  <a:pt x="0" y="0"/>
                </a:lnTo>
                <a:close/>
              </a:path>
            </a:pathLst>
          </a:custGeom>
          <a:blipFill>
            <a:blip r:embed="rId8"/>
            <a:stretch>
              <a:fillRect l="-493" r="-4881"/>
            </a:stretch>
          </a:blipFill>
        </p:spPr>
        <p:txBody>
          <a:bodyPr/>
          <a:lstStyle/>
          <a:p>
            <a:endParaRPr lang="en-GB"/>
          </a:p>
        </p:txBody>
      </p:sp>
      <p:sp>
        <p:nvSpPr>
          <p:cNvPr id="9" name="Freeform 9"/>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0" name="Freeform 10"/>
          <p:cNvSpPr/>
          <p:nvPr/>
        </p:nvSpPr>
        <p:spPr>
          <a:xfrm rot="2867302" flipH="1">
            <a:off x="15420242" y="-582893"/>
            <a:ext cx="2192191" cy="3812507"/>
          </a:xfrm>
          <a:custGeom>
            <a:avLst/>
            <a:gdLst/>
            <a:ahLst/>
            <a:cxnLst/>
            <a:rect l="l" t="t" r="r" b="b"/>
            <a:pathLst>
              <a:path w="2192191" h="3812507">
                <a:moveTo>
                  <a:pt x="2192191" y="0"/>
                </a:moveTo>
                <a:lnTo>
                  <a:pt x="0" y="0"/>
                </a:lnTo>
                <a:lnTo>
                  <a:pt x="0" y="3812507"/>
                </a:lnTo>
                <a:lnTo>
                  <a:pt x="2192191" y="3812507"/>
                </a:lnTo>
                <a:lnTo>
                  <a:pt x="219219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1" name="TextBox 11"/>
          <p:cNvSpPr txBox="1"/>
          <p:nvPr/>
        </p:nvSpPr>
        <p:spPr>
          <a:xfrm>
            <a:off x="1875279" y="5935613"/>
            <a:ext cx="6894514" cy="984250"/>
          </a:xfrm>
          <a:prstGeom prst="rect">
            <a:avLst/>
          </a:prstGeom>
        </p:spPr>
        <p:txBody>
          <a:bodyPr lIns="0" tIns="0" rIns="0" bIns="0" rtlCol="0" anchor="t">
            <a:spAutoFit/>
          </a:bodyPr>
          <a:lstStyle/>
          <a:p>
            <a:pPr algn="l">
              <a:lnSpc>
                <a:spcPts val="7699"/>
              </a:lnSpc>
              <a:spcBef>
                <a:spcPct val="0"/>
              </a:spcBef>
            </a:pPr>
            <a:r>
              <a:rPr lang="en-US" sz="5499" b="1">
                <a:solidFill>
                  <a:srgbClr val="B6F61A"/>
                </a:solidFill>
                <a:latin typeface="Poppins Bold"/>
                <a:ea typeface="Poppins Bold"/>
                <a:cs typeface="Poppins Bold"/>
                <a:sym typeface="Poppins Bold"/>
              </a:rPr>
              <a:t>GAME RULES</a:t>
            </a:r>
          </a:p>
        </p:txBody>
      </p:sp>
      <p:sp>
        <p:nvSpPr>
          <p:cNvPr id="12" name="TextBox 12"/>
          <p:cNvSpPr txBox="1"/>
          <p:nvPr/>
        </p:nvSpPr>
        <p:spPr>
          <a:xfrm>
            <a:off x="1875279" y="6828593"/>
            <a:ext cx="6894514" cy="984250"/>
          </a:xfrm>
          <a:prstGeom prst="rect">
            <a:avLst/>
          </a:prstGeom>
        </p:spPr>
        <p:txBody>
          <a:bodyPr lIns="0" tIns="0" rIns="0" bIns="0" rtlCol="0" anchor="t">
            <a:spAutoFit/>
          </a:bodyPr>
          <a:lstStyle/>
          <a:p>
            <a:pPr algn="l">
              <a:lnSpc>
                <a:spcPts val="7699"/>
              </a:lnSpc>
              <a:spcBef>
                <a:spcPct val="0"/>
              </a:spcBef>
            </a:pPr>
            <a:r>
              <a:rPr lang="en-US" sz="5499">
                <a:solidFill>
                  <a:srgbClr val="FFFFFF"/>
                </a:solidFill>
                <a:latin typeface="Poppins"/>
                <a:ea typeface="Poppins"/>
                <a:cs typeface="Poppins"/>
                <a:sym typeface="Poppins"/>
              </a:rPr>
              <a:t>AND LOGIC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709034">
            <a:off x="14180049" y="-2092872"/>
            <a:ext cx="5843512" cy="5880861"/>
          </a:xfrm>
          <a:custGeom>
            <a:avLst/>
            <a:gdLst/>
            <a:ahLst/>
            <a:cxnLst/>
            <a:rect l="l" t="t" r="r" b="b"/>
            <a:pathLst>
              <a:path w="5843512" h="5880861">
                <a:moveTo>
                  <a:pt x="0" y="0"/>
                </a:moveTo>
                <a:lnTo>
                  <a:pt x="5843511" y="0"/>
                </a:lnTo>
                <a:lnTo>
                  <a:pt x="5843511" y="5880861"/>
                </a:lnTo>
                <a:lnTo>
                  <a:pt x="0" y="58808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5339161">
            <a:off x="-2921756" y="-2940431"/>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395661" y="329621"/>
            <a:ext cx="1693979" cy="1472137"/>
          </a:xfrm>
          <a:custGeom>
            <a:avLst/>
            <a:gdLst/>
            <a:ahLst/>
            <a:cxnLst/>
            <a:rect l="l" t="t" r="r" b="b"/>
            <a:pathLst>
              <a:path w="1693979" h="1472137">
                <a:moveTo>
                  <a:pt x="0" y="0"/>
                </a:moveTo>
                <a:lnTo>
                  <a:pt x="1693979" y="0"/>
                </a:lnTo>
                <a:lnTo>
                  <a:pt x="1693979" y="1472137"/>
                </a:lnTo>
                <a:lnTo>
                  <a:pt x="0" y="1472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rot="10090965">
            <a:off x="-1783347" y="8087572"/>
            <a:ext cx="4370918" cy="4398856"/>
          </a:xfrm>
          <a:custGeom>
            <a:avLst/>
            <a:gdLst/>
            <a:ahLst/>
            <a:cxnLst/>
            <a:rect l="l" t="t" r="r" b="b"/>
            <a:pathLst>
              <a:path w="4370918" h="4398856">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rot="-7932697" flipH="1">
            <a:off x="467093" y="8687001"/>
            <a:ext cx="1123215" cy="1953417"/>
          </a:xfrm>
          <a:custGeom>
            <a:avLst/>
            <a:gdLst/>
            <a:ahLst/>
            <a:cxnLst/>
            <a:rect l="l" t="t" r="r" b="b"/>
            <a:pathLst>
              <a:path w="1123215" h="1953417">
                <a:moveTo>
                  <a:pt x="1123214" y="0"/>
                </a:moveTo>
                <a:lnTo>
                  <a:pt x="0" y="0"/>
                </a:lnTo>
                <a:lnTo>
                  <a:pt x="0" y="1953417"/>
                </a:lnTo>
                <a:lnTo>
                  <a:pt x="1123214" y="1953417"/>
                </a:lnTo>
                <a:lnTo>
                  <a:pt x="112321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 name="Freeform 7"/>
          <p:cNvSpPr/>
          <p:nvPr/>
        </p:nvSpPr>
        <p:spPr>
          <a:xfrm rot="5460838">
            <a:off x="15141467" y="7249393"/>
            <a:ext cx="6392809" cy="6433669"/>
          </a:xfrm>
          <a:custGeom>
            <a:avLst/>
            <a:gdLst/>
            <a:ahLst/>
            <a:cxnLst/>
            <a:rect l="l" t="t" r="r" b="b"/>
            <a:pathLst>
              <a:path w="6392809" h="6433669">
                <a:moveTo>
                  <a:pt x="0" y="0"/>
                </a:moveTo>
                <a:lnTo>
                  <a:pt x="6392808" y="0"/>
                </a:lnTo>
                <a:lnTo>
                  <a:pt x="6392808" y="6433669"/>
                </a:lnTo>
                <a:lnTo>
                  <a:pt x="0" y="64336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8" name="Freeform 8"/>
          <p:cNvSpPr/>
          <p:nvPr/>
        </p:nvSpPr>
        <p:spPr>
          <a:xfrm rot="-10800000">
            <a:off x="16535400" y="8494772"/>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9" name="Freeform 9"/>
          <p:cNvSpPr/>
          <p:nvPr/>
        </p:nvSpPr>
        <p:spPr>
          <a:xfrm>
            <a:off x="322616" y="1471931"/>
            <a:ext cx="10193570" cy="5115126"/>
          </a:xfrm>
          <a:custGeom>
            <a:avLst/>
            <a:gdLst/>
            <a:ahLst/>
            <a:cxnLst/>
            <a:rect l="l" t="t" r="r" b="b"/>
            <a:pathLst>
              <a:path w="10193570" h="5115126">
                <a:moveTo>
                  <a:pt x="0" y="0"/>
                </a:moveTo>
                <a:lnTo>
                  <a:pt x="10193569" y="0"/>
                </a:lnTo>
                <a:lnTo>
                  <a:pt x="10193569" y="5115126"/>
                </a:lnTo>
                <a:lnTo>
                  <a:pt x="0" y="5115126"/>
                </a:lnTo>
                <a:lnTo>
                  <a:pt x="0" y="0"/>
                </a:lnTo>
                <a:close/>
              </a:path>
            </a:pathLst>
          </a:custGeom>
          <a:blipFill>
            <a:blip r:embed="rId8"/>
            <a:stretch>
              <a:fillRect l="-716" r="-716"/>
            </a:stretch>
          </a:blipFill>
        </p:spPr>
        <p:txBody>
          <a:bodyPr/>
          <a:lstStyle/>
          <a:p>
            <a:endParaRPr lang="en-GB"/>
          </a:p>
        </p:txBody>
      </p:sp>
      <p:sp>
        <p:nvSpPr>
          <p:cNvPr id="10" name="Freeform 10"/>
          <p:cNvSpPr/>
          <p:nvPr/>
        </p:nvSpPr>
        <p:spPr>
          <a:xfrm rot="2867302" flipH="1">
            <a:off x="14995002" y="-412199"/>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1" name="TextBox 11"/>
          <p:cNvSpPr txBox="1"/>
          <p:nvPr/>
        </p:nvSpPr>
        <p:spPr>
          <a:xfrm>
            <a:off x="10799274" y="2635498"/>
            <a:ext cx="6792250" cy="814705"/>
          </a:xfrm>
          <a:prstGeom prst="rect">
            <a:avLst/>
          </a:prstGeom>
        </p:spPr>
        <p:txBody>
          <a:bodyPr lIns="0" tIns="0" rIns="0" bIns="0" rtlCol="0" anchor="t">
            <a:spAutoFit/>
          </a:bodyPr>
          <a:lstStyle/>
          <a:p>
            <a:pPr algn="l">
              <a:lnSpc>
                <a:spcPts val="5884"/>
              </a:lnSpc>
            </a:pPr>
            <a:r>
              <a:rPr lang="en-US" sz="5499" b="1" dirty="0">
                <a:solidFill>
                  <a:srgbClr val="B6F61A"/>
                </a:solidFill>
                <a:latin typeface="Poppins Bold"/>
                <a:ea typeface="Poppins Bold"/>
                <a:cs typeface="Poppins Bold"/>
                <a:sym typeface="Poppins Bold"/>
              </a:rPr>
              <a:t>OVERVIEW</a:t>
            </a:r>
          </a:p>
        </p:txBody>
      </p:sp>
      <p:sp>
        <p:nvSpPr>
          <p:cNvPr id="12" name="TextBox 12"/>
          <p:cNvSpPr txBox="1"/>
          <p:nvPr/>
        </p:nvSpPr>
        <p:spPr>
          <a:xfrm>
            <a:off x="10743464" y="1672205"/>
            <a:ext cx="6231730" cy="984250"/>
          </a:xfrm>
          <a:prstGeom prst="rect">
            <a:avLst/>
          </a:prstGeom>
        </p:spPr>
        <p:txBody>
          <a:bodyPr lIns="0" tIns="0" rIns="0" bIns="0" rtlCol="0" anchor="t">
            <a:spAutoFit/>
          </a:bodyPr>
          <a:lstStyle/>
          <a:p>
            <a:pPr algn="l">
              <a:lnSpc>
                <a:spcPts val="7699"/>
              </a:lnSpc>
              <a:spcBef>
                <a:spcPct val="0"/>
              </a:spcBef>
            </a:pPr>
            <a:r>
              <a:rPr lang="en-US" sz="5499" dirty="0">
                <a:solidFill>
                  <a:srgbClr val="FFFFFF"/>
                </a:solidFill>
                <a:latin typeface="Poppins"/>
                <a:ea typeface="Poppins"/>
                <a:cs typeface="Poppins"/>
                <a:sym typeface="Poppins"/>
              </a:rPr>
              <a:t>SYSTEM </a:t>
            </a:r>
          </a:p>
        </p:txBody>
      </p:sp>
      <p:sp>
        <p:nvSpPr>
          <p:cNvPr id="13" name="TextBox 13"/>
          <p:cNvSpPr txBox="1"/>
          <p:nvPr/>
        </p:nvSpPr>
        <p:spPr>
          <a:xfrm>
            <a:off x="10815513" y="3443029"/>
            <a:ext cx="6429561" cy="2806700"/>
          </a:xfrm>
          <a:prstGeom prst="rect">
            <a:avLst/>
          </a:prstGeom>
        </p:spPr>
        <p:txBody>
          <a:bodyPr lIns="0" tIns="0" rIns="0" bIns="0" rtlCol="0" anchor="t">
            <a:spAutoFit/>
          </a:bodyPr>
          <a:lstStyle/>
          <a:p>
            <a:pPr algn="l">
              <a:lnSpc>
                <a:spcPts val="2799"/>
              </a:lnSpc>
              <a:spcBef>
                <a:spcPct val="0"/>
              </a:spcBef>
            </a:pPr>
            <a:r>
              <a:rPr lang="en-US" sz="1999" dirty="0">
                <a:solidFill>
                  <a:srgbClr val="FFFFFF"/>
                </a:solidFill>
                <a:latin typeface="Open Sans"/>
                <a:ea typeface="Open Sans"/>
                <a:cs typeface="Open Sans"/>
                <a:sym typeface="Open Sans"/>
              </a:rPr>
              <a:t> Hardware part of the project includes the design and implementation of modules for VGA image display, control input via the controller. Specifically, the game logic unit transmits data concerning each object's position and status to the hardware via the device drivers. The hardware peripherals, upon receiving this data, process and decode it to produce the appropriate visual outputs.</a:t>
            </a:r>
          </a:p>
        </p:txBody>
      </p:sp>
      <p:sp>
        <p:nvSpPr>
          <p:cNvPr id="14" name="TextBox 14"/>
          <p:cNvSpPr txBox="1"/>
          <p:nvPr/>
        </p:nvSpPr>
        <p:spPr>
          <a:xfrm>
            <a:off x="10709736" y="6387546"/>
            <a:ext cx="6429561" cy="2806700"/>
          </a:xfrm>
          <a:prstGeom prst="rect">
            <a:avLst/>
          </a:prstGeom>
        </p:spPr>
        <p:txBody>
          <a:bodyPr lIns="0" tIns="0" rIns="0" bIns="0" rtlCol="0" anchor="t">
            <a:spAutoFit/>
          </a:bodyPr>
          <a:lstStyle/>
          <a:p>
            <a:pPr algn="l">
              <a:lnSpc>
                <a:spcPts val="2799"/>
              </a:lnSpc>
              <a:spcBef>
                <a:spcPct val="0"/>
              </a:spcBef>
            </a:pPr>
            <a:r>
              <a:rPr lang="en-US" sz="1999" dirty="0">
                <a:solidFill>
                  <a:srgbClr val="FFFFFF"/>
                </a:solidFill>
                <a:latin typeface="Open Sans"/>
                <a:ea typeface="Open Sans"/>
                <a:cs typeface="Open Sans"/>
                <a:sym typeface="Open Sans"/>
              </a:rPr>
              <a:t> The software portion consists of the device drivers and the game logic unit. The game logic manages several key functions, including the display of Apple sprites, Snake sprites, score calculation, food eating, and wall collision detection. The device drivers serve as the bridge connecting the hardware components—such as the controller and VGA monitor—to the logic control unit.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5339161">
            <a:off x="-2921756" y="-2940431"/>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395661" y="329621"/>
            <a:ext cx="1693979" cy="1472137"/>
          </a:xfrm>
          <a:custGeom>
            <a:avLst/>
            <a:gdLst/>
            <a:ahLst/>
            <a:cxnLst/>
            <a:rect l="l" t="t" r="r" b="b"/>
            <a:pathLst>
              <a:path w="1693979" h="1472137">
                <a:moveTo>
                  <a:pt x="0" y="0"/>
                </a:moveTo>
                <a:lnTo>
                  <a:pt x="1693979" y="0"/>
                </a:lnTo>
                <a:lnTo>
                  <a:pt x="1693979" y="1472137"/>
                </a:lnTo>
                <a:lnTo>
                  <a:pt x="0" y="1472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10090965">
            <a:off x="-1783347" y="8087572"/>
            <a:ext cx="4370918" cy="4398856"/>
          </a:xfrm>
          <a:custGeom>
            <a:avLst/>
            <a:gdLst/>
            <a:ahLst/>
            <a:cxnLst/>
            <a:rect l="l" t="t" r="r" b="b"/>
            <a:pathLst>
              <a:path w="4370918" h="4398856">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7932697" flipH="1">
            <a:off x="467093" y="8687001"/>
            <a:ext cx="1123215" cy="1953417"/>
          </a:xfrm>
          <a:custGeom>
            <a:avLst/>
            <a:gdLst/>
            <a:ahLst/>
            <a:cxnLst/>
            <a:rect l="l" t="t" r="r" b="b"/>
            <a:pathLst>
              <a:path w="1123215" h="1953417">
                <a:moveTo>
                  <a:pt x="1123214" y="0"/>
                </a:moveTo>
                <a:lnTo>
                  <a:pt x="0" y="0"/>
                </a:lnTo>
                <a:lnTo>
                  <a:pt x="0" y="1953417"/>
                </a:lnTo>
                <a:lnTo>
                  <a:pt x="1123214" y="1953417"/>
                </a:lnTo>
                <a:lnTo>
                  <a:pt x="112321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rot="2867302" flipH="1">
            <a:off x="16506070" y="-261716"/>
            <a:ext cx="1362984" cy="2370408"/>
          </a:xfrm>
          <a:custGeom>
            <a:avLst/>
            <a:gdLst/>
            <a:ahLst/>
            <a:cxnLst/>
            <a:rect l="l" t="t" r="r" b="b"/>
            <a:pathLst>
              <a:path w="1362984" h="2370408">
                <a:moveTo>
                  <a:pt x="1362984" y="0"/>
                </a:moveTo>
                <a:lnTo>
                  <a:pt x="0" y="0"/>
                </a:lnTo>
                <a:lnTo>
                  <a:pt x="0" y="2370407"/>
                </a:lnTo>
                <a:lnTo>
                  <a:pt x="1362984" y="2370407"/>
                </a:lnTo>
                <a:lnTo>
                  <a:pt x="136298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Freeform 8"/>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7220345" y="4630551"/>
            <a:ext cx="11067655" cy="2614886"/>
          </a:xfrm>
          <a:custGeom>
            <a:avLst/>
            <a:gdLst/>
            <a:ahLst/>
            <a:cxnLst/>
            <a:rect l="l" t="t" r="r" b="b"/>
            <a:pathLst>
              <a:path w="11067655" h="2614886">
                <a:moveTo>
                  <a:pt x="0" y="0"/>
                </a:moveTo>
                <a:lnTo>
                  <a:pt x="11067655" y="0"/>
                </a:lnTo>
                <a:lnTo>
                  <a:pt x="11067655" y="2614885"/>
                </a:lnTo>
                <a:lnTo>
                  <a:pt x="0" y="2614885"/>
                </a:lnTo>
                <a:lnTo>
                  <a:pt x="0" y="0"/>
                </a:lnTo>
                <a:close/>
              </a:path>
            </a:pathLst>
          </a:custGeom>
          <a:blipFill>
            <a:blip r:embed="rId8"/>
            <a:stretch>
              <a:fillRect/>
            </a:stretch>
          </a:blipFill>
        </p:spPr>
        <p:txBody>
          <a:bodyPr/>
          <a:lstStyle/>
          <a:p>
            <a:endParaRPr lang="en-GB"/>
          </a:p>
        </p:txBody>
      </p:sp>
      <p:sp>
        <p:nvSpPr>
          <p:cNvPr id="11" name="TextBox 11"/>
          <p:cNvSpPr txBox="1"/>
          <p:nvPr/>
        </p:nvSpPr>
        <p:spPr>
          <a:xfrm>
            <a:off x="2727806" y="2391417"/>
            <a:ext cx="12832387" cy="984250"/>
          </a:xfrm>
          <a:prstGeom prst="rect">
            <a:avLst/>
          </a:prstGeom>
        </p:spPr>
        <p:txBody>
          <a:bodyPr lIns="0" tIns="0" rIns="0" bIns="0" rtlCol="0" anchor="t">
            <a:spAutoFit/>
          </a:bodyPr>
          <a:lstStyle/>
          <a:p>
            <a:pPr algn="ctr">
              <a:lnSpc>
                <a:spcPts val="7699"/>
              </a:lnSpc>
              <a:spcBef>
                <a:spcPct val="0"/>
              </a:spcBef>
            </a:pPr>
            <a:r>
              <a:rPr lang="en-US" sz="5499" b="1">
                <a:solidFill>
                  <a:srgbClr val="B6F61A"/>
                </a:solidFill>
                <a:latin typeface="Poppins Bold"/>
                <a:ea typeface="Poppins Bold"/>
                <a:cs typeface="Poppins Bold"/>
                <a:sym typeface="Poppins Bold"/>
              </a:rPr>
              <a:t>INTERACTION</a:t>
            </a:r>
          </a:p>
        </p:txBody>
      </p:sp>
      <p:sp>
        <p:nvSpPr>
          <p:cNvPr id="12" name="TextBox 12"/>
          <p:cNvSpPr txBox="1"/>
          <p:nvPr/>
        </p:nvSpPr>
        <p:spPr>
          <a:xfrm>
            <a:off x="2963636" y="1559567"/>
            <a:ext cx="12360728" cy="984250"/>
          </a:xfrm>
          <a:prstGeom prst="rect">
            <a:avLst/>
          </a:prstGeom>
        </p:spPr>
        <p:txBody>
          <a:bodyPr lIns="0" tIns="0" rIns="0" bIns="0" rtlCol="0" anchor="t">
            <a:spAutoFit/>
          </a:bodyPr>
          <a:lstStyle/>
          <a:p>
            <a:pPr algn="ctr">
              <a:lnSpc>
                <a:spcPts val="7699"/>
              </a:lnSpc>
              <a:spcBef>
                <a:spcPct val="0"/>
              </a:spcBef>
            </a:pPr>
            <a:r>
              <a:rPr lang="en-US" sz="5499">
                <a:solidFill>
                  <a:srgbClr val="FFFFFF"/>
                </a:solidFill>
                <a:latin typeface="Poppins"/>
                <a:ea typeface="Poppins"/>
                <a:cs typeface="Poppins"/>
                <a:sym typeface="Poppins"/>
              </a:rPr>
              <a:t>DISPLAY HARDWARE</a:t>
            </a:r>
          </a:p>
        </p:txBody>
      </p:sp>
      <p:sp>
        <p:nvSpPr>
          <p:cNvPr id="13" name="TextBox 13"/>
          <p:cNvSpPr txBox="1"/>
          <p:nvPr/>
        </p:nvSpPr>
        <p:spPr>
          <a:xfrm>
            <a:off x="1013094" y="3665350"/>
            <a:ext cx="3957161" cy="819149"/>
          </a:xfrm>
          <a:prstGeom prst="rect">
            <a:avLst/>
          </a:prstGeom>
        </p:spPr>
        <p:txBody>
          <a:bodyPr lIns="0" tIns="0" rIns="0" bIns="0" rtlCol="0" anchor="t">
            <a:spAutoFit/>
          </a:bodyPr>
          <a:lstStyle/>
          <a:p>
            <a:pPr algn="ctr">
              <a:lnSpc>
                <a:spcPts val="6300"/>
              </a:lnSpc>
              <a:spcBef>
                <a:spcPct val="0"/>
              </a:spcBef>
            </a:pPr>
            <a:r>
              <a:rPr lang="en-US" sz="4500" b="1">
                <a:solidFill>
                  <a:srgbClr val="FFFFFF"/>
                </a:solidFill>
                <a:latin typeface="Poppins Bold"/>
                <a:ea typeface="Poppins Bold"/>
                <a:cs typeface="Poppins Bold"/>
                <a:sym typeface="Poppins Bold"/>
              </a:rPr>
              <a:t>DESCRIPTION:</a:t>
            </a:r>
          </a:p>
        </p:txBody>
      </p:sp>
      <p:sp>
        <p:nvSpPr>
          <p:cNvPr id="14" name="TextBox 14"/>
          <p:cNvSpPr txBox="1"/>
          <p:nvPr/>
        </p:nvSpPr>
        <p:spPr>
          <a:xfrm>
            <a:off x="812636" y="4734611"/>
            <a:ext cx="5880232" cy="3540125"/>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Poppins"/>
                <a:ea typeface="Poppins"/>
                <a:cs typeface="Poppins"/>
                <a:sym typeface="Poppins"/>
              </a:rPr>
              <a:t>THIS SECTION INITIALIZES THE GAME WINDOW, WHICH IS DISPLAYED ON YOUR MONITOR.</a:t>
            </a:r>
          </a:p>
          <a:p>
            <a:pPr algn="l">
              <a:lnSpc>
                <a:spcPts val="2800"/>
              </a:lnSpc>
            </a:pPr>
            <a:endParaRPr lang="en-US" sz="2000">
              <a:solidFill>
                <a:srgbClr val="FFFFFF"/>
              </a:solidFill>
              <a:latin typeface="Poppins"/>
              <a:ea typeface="Poppins"/>
              <a:cs typeface="Poppins"/>
              <a:sym typeface="Poppins"/>
            </a:endParaRPr>
          </a:p>
          <a:p>
            <a:pPr marL="431801" lvl="1" indent="-215900" algn="l">
              <a:lnSpc>
                <a:spcPts val="2800"/>
              </a:lnSpc>
              <a:buFont typeface="Arial"/>
              <a:buChar char="•"/>
            </a:pPr>
            <a:r>
              <a:rPr lang="en-US" sz="2000">
                <a:solidFill>
                  <a:srgbClr val="FFFFFF"/>
                </a:solidFill>
                <a:latin typeface="Poppins"/>
                <a:ea typeface="Poppins"/>
                <a:cs typeface="Poppins"/>
                <a:sym typeface="Poppins"/>
              </a:rPr>
              <a:t>PYGAME.DISPLAY.SET_MODE() CREATES A SCREEN OBJECT THAT ALLOWS THE GAME TO RENDER GRAPHICS.</a:t>
            </a:r>
          </a:p>
          <a:p>
            <a:pPr algn="l">
              <a:lnSpc>
                <a:spcPts val="2800"/>
              </a:lnSpc>
            </a:pPr>
            <a:endParaRPr lang="en-US" sz="2000">
              <a:solidFill>
                <a:srgbClr val="FFFFFF"/>
              </a:solidFill>
              <a:latin typeface="Poppins"/>
              <a:ea typeface="Poppins"/>
              <a:cs typeface="Poppins"/>
              <a:sym typeface="Poppins"/>
            </a:endParaRPr>
          </a:p>
          <a:p>
            <a:pPr marL="431801" lvl="1" indent="-215900" algn="l">
              <a:lnSpc>
                <a:spcPts val="2800"/>
              </a:lnSpc>
              <a:buFont typeface="Arial"/>
              <a:buChar char="•"/>
            </a:pPr>
            <a:r>
              <a:rPr lang="en-US" sz="2000">
                <a:solidFill>
                  <a:srgbClr val="FFFFFF"/>
                </a:solidFill>
                <a:latin typeface="Poppins"/>
                <a:ea typeface="Poppins"/>
                <a:cs typeface="Poppins"/>
                <a:sym typeface="Poppins"/>
              </a:rPr>
              <a:t>PYGAME.DISPLAY.SET_CAPTION() SETS THE TITLE OF THE GAME WINDOW.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2867302" flipH="1">
            <a:off x="16506070" y="-261716"/>
            <a:ext cx="1362984" cy="2370408"/>
          </a:xfrm>
          <a:custGeom>
            <a:avLst/>
            <a:gdLst/>
            <a:ahLst/>
            <a:cxnLst/>
            <a:rect l="l" t="t" r="r" b="b"/>
            <a:pathLst>
              <a:path w="1362984" h="2370408">
                <a:moveTo>
                  <a:pt x="1362984" y="0"/>
                </a:moveTo>
                <a:lnTo>
                  <a:pt x="0" y="0"/>
                </a:lnTo>
                <a:lnTo>
                  <a:pt x="0" y="2370407"/>
                </a:lnTo>
                <a:lnTo>
                  <a:pt x="1362984" y="2370407"/>
                </a:lnTo>
                <a:lnTo>
                  <a:pt x="136298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10090965">
            <a:off x="-2007843" y="6460378"/>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rot="-7932697" flipH="1">
            <a:off x="874234" y="6438987"/>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Freeform 8"/>
          <p:cNvSpPr/>
          <p:nvPr/>
        </p:nvSpPr>
        <p:spPr>
          <a:xfrm rot="-5339161">
            <a:off x="-3048968" y="-3099562"/>
            <a:ext cx="6392809" cy="6433669"/>
          </a:xfrm>
          <a:custGeom>
            <a:avLst/>
            <a:gdLst/>
            <a:ahLst/>
            <a:cxnLst/>
            <a:rect l="l" t="t" r="r" b="b"/>
            <a:pathLst>
              <a:path w="6392809" h="6433669">
                <a:moveTo>
                  <a:pt x="0" y="0"/>
                </a:moveTo>
                <a:lnTo>
                  <a:pt x="6392809" y="0"/>
                </a:lnTo>
                <a:lnTo>
                  <a:pt x="6392809" y="6433670"/>
                </a:lnTo>
                <a:lnTo>
                  <a:pt x="0" y="6433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580290" y="477879"/>
            <a:ext cx="2009884" cy="1746672"/>
          </a:xfrm>
          <a:custGeom>
            <a:avLst/>
            <a:gdLst/>
            <a:ahLst/>
            <a:cxnLst/>
            <a:rect l="l" t="t" r="r" b="b"/>
            <a:pathLst>
              <a:path w="2009884" h="1746672">
                <a:moveTo>
                  <a:pt x="0" y="0"/>
                </a:moveTo>
                <a:lnTo>
                  <a:pt x="2009885" y="0"/>
                </a:lnTo>
                <a:lnTo>
                  <a:pt x="2009885" y="1746672"/>
                </a:lnTo>
                <a:lnTo>
                  <a:pt x="0" y="17466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0" name="Freeform 10"/>
          <p:cNvSpPr/>
          <p:nvPr/>
        </p:nvSpPr>
        <p:spPr>
          <a:xfrm>
            <a:off x="147436" y="4887307"/>
            <a:ext cx="9495893" cy="1725978"/>
          </a:xfrm>
          <a:custGeom>
            <a:avLst/>
            <a:gdLst/>
            <a:ahLst/>
            <a:cxnLst/>
            <a:rect l="l" t="t" r="r" b="b"/>
            <a:pathLst>
              <a:path w="9495893" h="1725978">
                <a:moveTo>
                  <a:pt x="0" y="0"/>
                </a:moveTo>
                <a:lnTo>
                  <a:pt x="9495894" y="0"/>
                </a:lnTo>
                <a:lnTo>
                  <a:pt x="9495894" y="1725978"/>
                </a:lnTo>
                <a:lnTo>
                  <a:pt x="0" y="1725978"/>
                </a:lnTo>
                <a:lnTo>
                  <a:pt x="0" y="0"/>
                </a:lnTo>
                <a:close/>
              </a:path>
            </a:pathLst>
          </a:custGeom>
          <a:blipFill>
            <a:blip r:embed="rId8"/>
            <a:stretch>
              <a:fillRect r="-656"/>
            </a:stretch>
          </a:blipFill>
        </p:spPr>
        <p:txBody>
          <a:bodyPr/>
          <a:lstStyle/>
          <a:p>
            <a:endParaRPr lang="en-GB"/>
          </a:p>
        </p:txBody>
      </p:sp>
      <p:sp>
        <p:nvSpPr>
          <p:cNvPr id="11" name="Freeform 11"/>
          <p:cNvSpPr/>
          <p:nvPr/>
        </p:nvSpPr>
        <p:spPr>
          <a:xfrm>
            <a:off x="147436" y="3227686"/>
            <a:ext cx="9001613" cy="1113103"/>
          </a:xfrm>
          <a:custGeom>
            <a:avLst/>
            <a:gdLst/>
            <a:ahLst/>
            <a:cxnLst/>
            <a:rect l="l" t="t" r="r" b="b"/>
            <a:pathLst>
              <a:path w="9001613" h="1113103">
                <a:moveTo>
                  <a:pt x="0" y="0"/>
                </a:moveTo>
                <a:lnTo>
                  <a:pt x="9001614" y="0"/>
                </a:lnTo>
                <a:lnTo>
                  <a:pt x="9001614" y="1113103"/>
                </a:lnTo>
                <a:lnTo>
                  <a:pt x="0" y="1113103"/>
                </a:lnTo>
                <a:lnTo>
                  <a:pt x="0" y="0"/>
                </a:lnTo>
                <a:close/>
              </a:path>
            </a:pathLst>
          </a:custGeom>
          <a:blipFill>
            <a:blip r:embed="rId9"/>
            <a:stretch>
              <a:fillRect/>
            </a:stretch>
          </a:blipFill>
        </p:spPr>
        <p:txBody>
          <a:bodyPr/>
          <a:lstStyle/>
          <a:p>
            <a:endParaRPr lang="en-GB"/>
          </a:p>
        </p:txBody>
      </p:sp>
      <p:sp>
        <p:nvSpPr>
          <p:cNvPr id="12" name="TextBox 12"/>
          <p:cNvSpPr txBox="1"/>
          <p:nvPr/>
        </p:nvSpPr>
        <p:spPr>
          <a:xfrm>
            <a:off x="7561444" y="553232"/>
            <a:ext cx="8885460" cy="1671320"/>
          </a:xfrm>
          <a:prstGeom prst="rect">
            <a:avLst/>
          </a:prstGeom>
        </p:spPr>
        <p:txBody>
          <a:bodyPr lIns="0" tIns="0" rIns="0" bIns="0" rtlCol="0" anchor="t">
            <a:spAutoFit/>
          </a:bodyPr>
          <a:lstStyle/>
          <a:p>
            <a:pPr algn="l">
              <a:lnSpc>
                <a:spcPts val="6580"/>
              </a:lnSpc>
              <a:spcBef>
                <a:spcPct val="0"/>
              </a:spcBef>
            </a:pPr>
            <a:r>
              <a:rPr lang="en-US" sz="4700" b="1">
                <a:solidFill>
                  <a:srgbClr val="B6F61A"/>
                </a:solidFill>
                <a:latin typeface="Poppins Bold"/>
                <a:ea typeface="Poppins Bold"/>
                <a:cs typeface="Poppins Bold"/>
                <a:sym typeface="Poppins Bold"/>
              </a:rPr>
              <a:t>INPUT DEVICES INTERACTION </a:t>
            </a:r>
            <a:r>
              <a:rPr lang="en-US" sz="4700" b="1">
                <a:solidFill>
                  <a:srgbClr val="FFFFFF"/>
                </a:solidFill>
                <a:latin typeface="Poppins Bold"/>
                <a:ea typeface="Poppins Bold"/>
                <a:cs typeface="Poppins Bold"/>
                <a:sym typeface="Poppins Bold"/>
              </a:rPr>
              <a:t>(MOUSE AND KEYBOARD)</a:t>
            </a:r>
          </a:p>
        </p:txBody>
      </p:sp>
      <p:sp>
        <p:nvSpPr>
          <p:cNvPr id="13" name="TextBox 13"/>
          <p:cNvSpPr txBox="1"/>
          <p:nvPr/>
        </p:nvSpPr>
        <p:spPr>
          <a:xfrm>
            <a:off x="10328225" y="4150289"/>
            <a:ext cx="7661784" cy="2462996"/>
          </a:xfrm>
          <a:prstGeom prst="rect">
            <a:avLst/>
          </a:prstGeom>
        </p:spPr>
        <p:txBody>
          <a:bodyPr lIns="0" tIns="0" rIns="0" bIns="0" rtlCol="0" anchor="t">
            <a:spAutoFit/>
          </a:bodyPr>
          <a:lstStyle/>
          <a:p>
            <a:pPr algn="l">
              <a:lnSpc>
                <a:spcPts val="2844"/>
              </a:lnSpc>
            </a:pPr>
            <a:r>
              <a:rPr lang="en-US" sz="2031">
                <a:solidFill>
                  <a:srgbClr val="A5E800"/>
                </a:solidFill>
                <a:latin typeface="Open Sans"/>
                <a:ea typeface="Open Sans"/>
                <a:cs typeface="Open Sans"/>
                <a:sym typeface="Open Sans"/>
              </a:rPr>
              <a:t>The game listens for mouse and keyboard events:</a:t>
            </a:r>
          </a:p>
          <a:p>
            <a:pPr algn="l">
              <a:lnSpc>
                <a:spcPts val="2844"/>
              </a:lnSpc>
            </a:pPr>
            <a:endParaRPr lang="en-US" sz="2031">
              <a:solidFill>
                <a:srgbClr val="A5E800"/>
              </a:solidFill>
              <a:latin typeface="Open Sans"/>
              <a:ea typeface="Open Sans"/>
              <a:cs typeface="Open Sans"/>
              <a:sym typeface="Open Sans"/>
            </a:endParaRPr>
          </a:p>
          <a:p>
            <a:pPr marL="438635" lvl="1" indent="-219318" algn="l">
              <a:lnSpc>
                <a:spcPts val="2844"/>
              </a:lnSpc>
              <a:buFont typeface="Arial"/>
              <a:buChar char="•"/>
            </a:pPr>
            <a:r>
              <a:rPr lang="en-US" sz="2031">
                <a:solidFill>
                  <a:srgbClr val="FFFFFF"/>
                </a:solidFill>
                <a:latin typeface="Open Sans"/>
                <a:ea typeface="Open Sans"/>
                <a:cs typeface="Open Sans"/>
                <a:sym typeface="Open Sans"/>
              </a:rPr>
              <a:t>Mouse: Tracks where the player clicks and uses it for food placement.</a:t>
            </a:r>
          </a:p>
          <a:p>
            <a:pPr marL="438635" lvl="1" indent="-219318" algn="l">
              <a:lnSpc>
                <a:spcPts val="2844"/>
              </a:lnSpc>
              <a:buFont typeface="Arial"/>
              <a:buChar char="•"/>
            </a:pPr>
            <a:r>
              <a:rPr lang="en-US" sz="2031">
                <a:solidFill>
                  <a:srgbClr val="FFFFFF"/>
                </a:solidFill>
                <a:latin typeface="Open Sans"/>
                <a:ea typeface="Open Sans"/>
                <a:cs typeface="Open Sans"/>
                <a:sym typeface="Open Sans"/>
              </a:rPr>
              <a:t>Keyboard: Detects specific keys like 'Q' for quitting the game.</a:t>
            </a:r>
          </a:p>
          <a:p>
            <a:pPr algn="l">
              <a:lnSpc>
                <a:spcPts val="2844"/>
              </a:lnSpc>
              <a:spcBef>
                <a:spcPct val="0"/>
              </a:spcBef>
            </a:pPr>
            <a:endParaRPr lang="en-US" sz="2031">
              <a:solidFill>
                <a:srgbClr val="FFFFFF"/>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5339161">
            <a:off x="-2921756" y="-2940431"/>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395661" y="329621"/>
            <a:ext cx="1693979" cy="1472137"/>
          </a:xfrm>
          <a:custGeom>
            <a:avLst/>
            <a:gdLst/>
            <a:ahLst/>
            <a:cxnLst/>
            <a:rect l="l" t="t" r="r" b="b"/>
            <a:pathLst>
              <a:path w="1693979" h="1472137">
                <a:moveTo>
                  <a:pt x="0" y="0"/>
                </a:moveTo>
                <a:lnTo>
                  <a:pt x="1693979" y="0"/>
                </a:lnTo>
                <a:lnTo>
                  <a:pt x="1693979" y="1472137"/>
                </a:lnTo>
                <a:lnTo>
                  <a:pt x="0" y="1472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10090965">
            <a:off x="-1783347" y="8087572"/>
            <a:ext cx="4370918" cy="4398856"/>
          </a:xfrm>
          <a:custGeom>
            <a:avLst/>
            <a:gdLst/>
            <a:ahLst/>
            <a:cxnLst/>
            <a:rect l="l" t="t" r="r" b="b"/>
            <a:pathLst>
              <a:path w="4370918" h="4398856">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7932697" flipH="1">
            <a:off x="467093" y="8687001"/>
            <a:ext cx="1123215" cy="1953417"/>
          </a:xfrm>
          <a:custGeom>
            <a:avLst/>
            <a:gdLst/>
            <a:ahLst/>
            <a:cxnLst/>
            <a:rect l="l" t="t" r="r" b="b"/>
            <a:pathLst>
              <a:path w="1123215" h="1953417">
                <a:moveTo>
                  <a:pt x="1123214" y="0"/>
                </a:moveTo>
                <a:lnTo>
                  <a:pt x="0" y="0"/>
                </a:lnTo>
                <a:lnTo>
                  <a:pt x="0" y="1953417"/>
                </a:lnTo>
                <a:lnTo>
                  <a:pt x="1123214" y="1953417"/>
                </a:lnTo>
                <a:lnTo>
                  <a:pt x="112321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8" name="Freeform 8"/>
          <p:cNvSpPr/>
          <p:nvPr/>
        </p:nvSpPr>
        <p:spPr>
          <a:xfrm>
            <a:off x="7724203" y="1231378"/>
            <a:ext cx="10563797" cy="7577482"/>
          </a:xfrm>
          <a:custGeom>
            <a:avLst/>
            <a:gdLst/>
            <a:ahLst/>
            <a:cxnLst/>
            <a:rect l="l" t="t" r="r" b="b"/>
            <a:pathLst>
              <a:path w="10563797" h="7577482">
                <a:moveTo>
                  <a:pt x="0" y="0"/>
                </a:moveTo>
                <a:lnTo>
                  <a:pt x="10563797" y="0"/>
                </a:lnTo>
                <a:lnTo>
                  <a:pt x="10563797" y="7577482"/>
                </a:lnTo>
                <a:lnTo>
                  <a:pt x="0" y="7577482"/>
                </a:lnTo>
                <a:lnTo>
                  <a:pt x="0" y="0"/>
                </a:lnTo>
                <a:close/>
              </a:path>
            </a:pathLst>
          </a:custGeom>
          <a:blipFill>
            <a:blip r:embed="rId8"/>
            <a:stretch>
              <a:fillRect l="-475" r="-1616"/>
            </a:stretch>
          </a:blipFill>
        </p:spPr>
        <p:txBody>
          <a:bodyPr/>
          <a:lstStyle/>
          <a:p>
            <a:endParaRPr lang="en-GB"/>
          </a:p>
        </p:txBody>
      </p:sp>
      <p:sp>
        <p:nvSpPr>
          <p:cNvPr id="9" name="Freeform 9"/>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rot="2867302" flipH="1">
            <a:off x="16506070" y="-261716"/>
            <a:ext cx="1362984" cy="2370408"/>
          </a:xfrm>
          <a:custGeom>
            <a:avLst/>
            <a:gdLst/>
            <a:ahLst/>
            <a:cxnLst/>
            <a:rect l="l" t="t" r="r" b="b"/>
            <a:pathLst>
              <a:path w="1362984" h="2370408">
                <a:moveTo>
                  <a:pt x="1362984" y="0"/>
                </a:moveTo>
                <a:lnTo>
                  <a:pt x="0" y="0"/>
                </a:lnTo>
                <a:lnTo>
                  <a:pt x="0" y="2370407"/>
                </a:lnTo>
                <a:lnTo>
                  <a:pt x="1362984" y="2370407"/>
                </a:lnTo>
                <a:lnTo>
                  <a:pt x="136298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1" name="TextBox 11"/>
          <p:cNvSpPr txBox="1"/>
          <p:nvPr/>
        </p:nvSpPr>
        <p:spPr>
          <a:xfrm>
            <a:off x="2812443" y="-60763"/>
            <a:ext cx="14350114" cy="984250"/>
          </a:xfrm>
          <a:prstGeom prst="rect">
            <a:avLst/>
          </a:prstGeom>
        </p:spPr>
        <p:txBody>
          <a:bodyPr lIns="0" tIns="0" rIns="0" bIns="0" rtlCol="0" anchor="t">
            <a:spAutoFit/>
          </a:bodyPr>
          <a:lstStyle/>
          <a:p>
            <a:pPr algn="ctr">
              <a:lnSpc>
                <a:spcPts val="7699"/>
              </a:lnSpc>
              <a:spcBef>
                <a:spcPct val="0"/>
              </a:spcBef>
            </a:pPr>
            <a:r>
              <a:rPr lang="en-US" sz="5499" b="1">
                <a:solidFill>
                  <a:srgbClr val="B6F61A"/>
                </a:solidFill>
                <a:latin typeface="Poppins Bold"/>
                <a:ea typeface="Poppins Bold"/>
                <a:cs typeface="Poppins Bold"/>
                <a:sym typeface="Poppins Bold"/>
              </a:rPr>
              <a:t>LOGIC</a:t>
            </a:r>
          </a:p>
        </p:txBody>
      </p:sp>
      <p:sp>
        <p:nvSpPr>
          <p:cNvPr id="12" name="TextBox 12"/>
          <p:cNvSpPr txBox="1"/>
          <p:nvPr/>
        </p:nvSpPr>
        <p:spPr>
          <a:xfrm>
            <a:off x="549146" y="-59683"/>
            <a:ext cx="14350114" cy="984250"/>
          </a:xfrm>
          <a:prstGeom prst="rect">
            <a:avLst/>
          </a:prstGeom>
        </p:spPr>
        <p:txBody>
          <a:bodyPr lIns="0" tIns="0" rIns="0" bIns="0" rtlCol="0" anchor="t">
            <a:spAutoFit/>
          </a:bodyPr>
          <a:lstStyle/>
          <a:p>
            <a:pPr algn="ctr">
              <a:lnSpc>
                <a:spcPts val="7699"/>
              </a:lnSpc>
              <a:spcBef>
                <a:spcPct val="0"/>
              </a:spcBef>
            </a:pPr>
            <a:r>
              <a:rPr lang="en-US" sz="5499">
                <a:solidFill>
                  <a:srgbClr val="FFFFFF"/>
                </a:solidFill>
                <a:latin typeface="Poppins"/>
                <a:ea typeface="Poppins"/>
                <a:cs typeface="Poppins"/>
                <a:sym typeface="Poppins"/>
              </a:rPr>
              <a:t>GAME</a:t>
            </a:r>
          </a:p>
        </p:txBody>
      </p:sp>
      <p:sp>
        <p:nvSpPr>
          <p:cNvPr id="13" name="TextBox 13"/>
          <p:cNvSpPr txBox="1"/>
          <p:nvPr/>
        </p:nvSpPr>
        <p:spPr>
          <a:xfrm>
            <a:off x="395661" y="3754881"/>
            <a:ext cx="6972777" cy="2621515"/>
          </a:xfrm>
          <a:prstGeom prst="rect">
            <a:avLst/>
          </a:prstGeom>
        </p:spPr>
        <p:txBody>
          <a:bodyPr lIns="0" tIns="0" rIns="0" bIns="0" rtlCol="0" anchor="t">
            <a:spAutoFit/>
          </a:bodyPr>
          <a:lstStyle/>
          <a:p>
            <a:pPr marL="458284" lvl="1" indent="-229142" algn="l">
              <a:lnSpc>
                <a:spcPts val="2971"/>
              </a:lnSpc>
              <a:buFont typeface="Arial"/>
              <a:buChar char="•"/>
            </a:pPr>
            <a:r>
              <a:rPr lang="en-US" sz="2122">
                <a:solidFill>
                  <a:srgbClr val="FFFFFF"/>
                </a:solidFill>
                <a:latin typeface="Poppins"/>
                <a:ea typeface="Poppins"/>
                <a:cs typeface="Poppins"/>
                <a:sym typeface="Poppins"/>
              </a:rPr>
              <a:t>THE GAME_LOOP() FUNCTION ORCHESTRATES ALL GAMEPLAY OPERATIONS, INCLUDING INPUT HANDLING, UPDATING POSITIONS, COLLISION DETECTION, AND RENDERING UPDATES.</a:t>
            </a:r>
          </a:p>
          <a:p>
            <a:pPr algn="l">
              <a:lnSpc>
                <a:spcPts val="2971"/>
              </a:lnSpc>
            </a:pPr>
            <a:endParaRPr lang="en-US" sz="2122">
              <a:solidFill>
                <a:srgbClr val="FFFFFF"/>
              </a:solidFill>
              <a:latin typeface="Poppins"/>
              <a:ea typeface="Poppins"/>
              <a:cs typeface="Poppins"/>
              <a:sym typeface="Poppins"/>
            </a:endParaRPr>
          </a:p>
          <a:p>
            <a:pPr marL="458284" lvl="1" indent="-229142" algn="l">
              <a:lnSpc>
                <a:spcPts val="2971"/>
              </a:lnSpc>
              <a:buFont typeface="Arial"/>
              <a:buChar char="•"/>
            </a:pPr>
            <a:r>
              <a:rPr lang="en-US" sz="2122">
                <a:solidFill>
                  <a:srgbClr val="FFFFFF"/>
                </a:solidFill>
                <a:latin typeface="Poppins"/>
                <a:ea typeface="Poppins"/>
                <a:cs typeface="Poppins"/>
                <a:sym typeface="Poppins"/>
              </a:rPr>
              <a:t>THIS LOGIC GOVERNS HOW THE SOFTWARE MANAGES THE GAME'S STATE AND FLOW.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2867302" flipH="1">
            <a:off x="16506070" y="-261716"/>
            <a:ext cx="1362984" cy="2370408"/>
          </a:xfrm>
          <a:custGeom>
            <a:avLst/>
            <a:gdLst/>
            <a:ahLst/>
            <a:cxnLst/>
            <a:rect l="l" t="t" r="r" b="b"/>
            <a:pathLst>
              <a:path w="1362984" h="2370408">
                <a:moveTo>
                  <a:pt x="1362984" y="0"/>
                </a:moveTo>
                <a:lnTo>
                  <a:pt x="0" y="0"/>
                </a:lnTo>
                <a:lnTo>
                  <a:pt x="0" y="2370407"/>
                </a:lnTo>
                <a:lnTo>
                  <a:pt x="1362984" y="2370407"/>
                </a:lnTo>
                <a:lnTo>
                  <a:pt x="136298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10090965">
            <a:off x="-2007843" y="6460378"/>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rot="-5339161">
            <a:off x="-3048968" y="-3099562"/>
            <a:ext cx="6392809" cy="6433669"/>
          </a:xfrm>
          <a:custGeom>
            <a:avLst/>
            <a:gdLst/>
            <a:ahLst/>
            <a:cxnLst/>
            <a:rect l="l" t="t" r="r" b="b"/>
            <a:pathLst>
              <a:path w="6392809" h="6433669">
                <a:moveTo>
                  <a:pt x="0" y="0"/>
                </a:moveTo>
                <a:lnTo>
                  <a:pt x="6392809" y="0"/>
                </a:lnTo>
                <a:lnTo>
                  <a:pt x="6392809" y="6433670"/>
                </a:lnTo>
                <a:lnTo>
                  <a:pt x="0" y="6433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a:off x="580290" y="477879"/>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Freeform 8"/>
          <p:cNvSpPr/>
          <p:nvPr/>
        </p:nvSpPr>
        <p:spPr>
          <a:xfrm>
            <a:off x="2934989" y="5189880"/>
            <a:ext cx="15353011" cy="5011395"/>
          </a:xfrm>
          <a:custGeom>
            <a:avLst/>
            <a:gdLst/>
            <a:ahLst/>
            <a:cxnLst/>
            <a:rect l="l" t="t" r="r" b="b"/>
            <a:pathLst>
              <a:path w="15353011" h="5011395">
                <a:moveTo>
                  <a:pt x="0" y="0"/>
                </a:moveTo>
                <a:lnTo>
                  <a:pt x="15353011" y="0"/>
                </a:lnTo>
                <a:lnTo>
                  <a:pt x="15353011" y="5011395"/>
                </a:lnTo>
                <a:lnTo>
                  <a:pt x="0" y="5011395"/>
                </a:lnTo>
                <a:lnTo>
                  <a:pt x="0" y="0"/>
                </a:lnTo>
                <a:close/>
              </a:path>
            </a:pathLst>
          </a:custGeom>
          <a:blipFill>
            <a:blip r:embed="rId8"/>
            <a:stretch>
              <a:fillRect b="-3014"/>
            </a:stretch>
          </a:blipFill>
        </p:spPr>
        <p:txBody>
          <a:bodyPr/>
          <a:lstStyle/>
          <a:p>
            <a:endParaRPr lang="en-GB"/>
          </a:p>
        </p:txBody>
      </p:sp>
      <p:sp>
        <p:nvSpPr>
          <p:cNvPr id="9" name="Freeform 9"/>
          <p:cNvSpPr/>
          <p:nvPr/>
        </p:nvSpPr>
        <p:spPr>
          <a:xfrm rot="-7932697" flipH="1">
            <a:off x="874234" y="6438987"/>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1" name="TextBox 11"/>
          <p:cNvSpPr txBox="1"/>
          <p:nvPr/>
        </p:nvSpPr>
        <p:spPr>
          <a:xfrm>
            <a:off x="5969897" y="355162"/>
            <a:ext cx="8174295" cy="984250"/>
          </a:xfrm>
          <a:prstGeom prst="rect">
            <a:avLst/>
          </a:prstGeom>
        </p:spPr>
        <p:txBody>
          <a:bodyPr lIns="0" tIns="0" rIns="0" bIns="0" rtlCol="0" anchor="t">
            <a:spAutoFit/>
          </a:bodyPr>
          <a:lstStyle/>
          <a:p>
            <a:pPr algn="l">
              <a:lnSpc>
                <a:spcPts val="7699"/>
              </a:lnSpc>
              <a:spcBef>
                <a:spcPct val="0"/>
              </a:spcBef>
            </a:pPr>
            <a:r>
              <a:rPr lang="en-US" sz="5499" b="1">
                <a:solidFill>
                  <a:srgbClr val="B6F61A"/>
                </a:solidFill>
                <a:latin typeface="Poppins Bold"/>
                <a:ea typeface="Poppins Bold"/>
                <a:cs typeface="Poppins Bold"/>
                <a:sym typeface="Poppins Bold"/>
              </a:rPr>
              <a:t> RENDERING GRAPHICS</a:t>
            </a:r>
          </a:p>
        </p:txBody>
      </p:sp>
      <p:sp>
        <p:nvSpPr>
          <p:cNvPr id="12" name="TextBox 12"/>
          <p:cNvSpPr txBox="1"/>
          <p:nvPr/>
        </p:nvSpPr>
        <p:spPr>
          <a:xfrm>
            <a:off x="5742550" y="1690030"/>
            <a:ext cx="7787077" cy="2949169"/>
          </a:xfrm>
          <a:prstGeom prst="rect">
            <a:avLst/>
          </a:prstGeom>
        </p:spPr>
        <p:txBody>
          <a:bodyPr lIns="0" tIns="0" rIns="0" bIns="0" rtlCol="0" anchor="t">
            <a:spAutoFit/>
          </a:bodyPr>
          <a:lstStyle/>
          <a:p>
            <a:pPr marL="515138" lvl="1" indent="-257569" algn="l">
              <a:lnSpc>
                <a:spcPts val="3340"/>
              </a:lnSpc>
              <a:buFont typeface="Arial"/>
              <a:buChar char="•"/>
            </a:pPr>
            <a:r>
              <a:rPr lang="en-US" sz="2386">
                <a:solidFill>
                  <a:srgbClr val="FFFFFF"/>
                </a:solidFill>
                <a:latin typeface="Poppins"/>
                <a:ea typeface="Poppins"/>
                <a:cs typeface="Poppins"/>
                <a:sym typeface="Poppins"/>
              </a:rPr>
              <a:t>THE DRAW_SNAKE() FUNCTION HANDLES GRAPHICAL RENDERING OF THE SNAKE ON THE SCREEN, INCLUDING ITS BODY, COLOR, AND EYES.</a:t>
            </a:r>
          </a:p>
          <a:p>
            <a:pPr algn="l">
              <a:lnSpc>
                <a:spcPts val="3340"/>
              </a:lnSpc>
            </a:pPr>
            <a:endParaRPr lang="en-US" sz="2386">
              <a:solidFill>
                <a:srgbClr val="FFFFFF"/>
              </a:solidFill>
              <a:latin typeface="Poppins"/>
              <a:ea typeface="Poppins"/>
              <a:cs typeface="Poppins"/>
              <a:sym typeface="Poppins"/>
            </a:endParaRPr>
          </a:p>
          <a:p>
            <a:pPr marL="515138" lvl="1" indent="-257569" algn="l">
              <a:lnSpc>
                <a:spcPts val="3340"/>
              </a:lnSpc>
              <a:buFont typeface="Arial"/>
              <a:buChar char="•"/>
            </a:pPr>
            <a:r>
              <a:rPr lang="en-US" sz="2386">
                <a:solidFill>
                  <a:srgbClr val="FFFFFF"/>
                </a:solidFill>
                <a:latin typeface="Poppins"/>
                <a:ea typeface="Poppins"/>
                <a:cs typeface="Poppins"/>
                <a:sym typeface="Poppins"/>
              </a:rPr>
              <a:t>IT USES PYGAME.DRAW FUNCTIONS TO VISUALLY REPRESENT THE SNAKE DYNAMICALLY AS IT GROWS.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709034">
            <a:off x="14399578" y="-2199651"/>
            <a:ext cx="5843512" cy="5880861"/>
          </a:xfrm>
          <a:custGeom>
            <a:avLst/>
            <a:gdLst/>
            <a:ahLst/>
            <a:cxnLst/>
            <a:rect l="l" t="t" r="r" b="b"/>
            <a:pathLst>
              <a:path w="5843512" h="5880861">
                <a:moveTo>
                  <a:pt x="0" y="0"/>
                </a:moveTo>
                <a:lnTo>
                  <a:pt x="5843511" y="0"/>
                </a:lnTo>
                <a:lnTo>
                  <a:pt x="5843511" y="5880861"/>
                </a:lnTo>
                <a:lnTo>
                  <a:pt x="0" y="58808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2867302" flipH="1">
            <a:off x="14995002" y="-412199"/>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5339161">
            <a:off x="-2777206" y="-2940431"/>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a:off x="395661" y="329621"/>
            <a:ext cx="1693979" cy="1472137"/>
          </a:xfrm>
          <a:custGeom>
            <a:avLst/>
            <a:gdLst/>
            <a:ahLst/>
            <a:cxnLst/>
            <a:rect l="l" t="t" r="r" b="b"/>
            <a:pathLst>
              <a:path w="1693979" h="1472137">
                <a:moveTo>
                  <a:pt x="0" y="0"/>
                </a:moveTo>
                <a:lnTo>
                  <a:pt x="1693979" y="0"/>
                </a:lnTo>
                <a:lnTo>
                  <a:pt x="1693979" y="1472137"/>
                </a:lnTo>
                <a:lnTo>
                  <a:pt x="0" y="14721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10090965">
            <a:off x="-1783347" y="8087572"/>
            <a:ext cx="4370918" cy="4398856"/>
          </a:xfrm>
          <a:custGeom>
            <a:avLst/>
            <a:gdLst/>
            <a:ahLst/>
            <a:cxnLst/>
            <a:rect l="l" t="t" r="r" b="b"/>
            <a:pathLst>
              <a:path w="4370918" h="4398856">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rot="-7932697" flipH="1">
            <a:off x="467093" y="8687001"/>
            <a:ext cx="1123215" cy="1953417"/>
          </a:xfrm>
          <a:custGeom>
            <a:avLst/>
            <a:gdLst/>
            <a:ahLst/>
            <a:cxnLst/>
            <a:rect l="l" t="t" r="r" b="b"/>
            <a:pathLst>
              <a:path w="1123215" h="1953417">
                <a:moveTo>
                  <a:pt x="1123214" y="0"/>
                </a:moveTo>
                <a:lnTo>
                  <a:pt x="0" y="0"/>
                </a:lnTo>
                <a:lnTo>
                  <a:pt x="0" y="1953417"/>
                </a:lnTo>
                <a:lnTo>
                  <a:pt x="1123214" y="1953417"/>
                </a:lnTo>
                <a:lnTo>
                  <a:pt x="112321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Freeform 8"/>
          <p:cNvSpPr/>
          <p:nvPr/>
        </p:nvSpPr>
        <p:spPr>
          <a:xfrm rot="5460838">
            <a:off x="14891406" y="6807481"/>
            <a:ext cx="6392809" cy="6433669"/>
          </a:xfrm>
          <a:custGeom>
            <a:avLst/>
            <a:gdLst/>
            <a:ahLst/>
            <a:cxnLst/>
            <a:rect l="l" t="t" r="r" b="b"/>
            <a:pathLst>
              <a:path w="6392809" h="6433669">
                <a:moveTo>
                  <a:pt x="0" y="0"/>
                </a:moveTo>
                <a:lnTo>
                  <a:pt x="6392808" y="0"/>
                </a:lnTo>
                <a:lnTo>
                  <a:pt x="6392808" y="6433669"/>
                </a:lnTo>
                <a:lnTo>
                  <a:pt x="0" y="64336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rot="-10800000">
            <a:off x="15064977" y="7412911"/>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0" name="Freeform 10"/>
          <p:cNvSpPr/>
          <p:nvPr/>
        </p:nvSpPr>
        <p:spPr>
          <a:xfrm>
            <a:off x="2085135" y="1206369"/>
            <a:ext cx="9129369" cy="6490353"/>
          </a:xfrm>
          <a:custGeom>
            <a:avLst/>
            <a:gdLst/>
            <a:ahLst/>
            <a:cxnLst/>
            <a:rect l="l" t="t" r="r" b="b"/>
            <a:pathLst>
              <a:path w="9129369" h="6490353">
                <a:moveTo>
                  <a:pt x="0" y="0"/>
                </a:moveTo>
                <a:lnTo>
                  <a:pt x="9129369" y="0"/>
                </a:lnTo>
                <a:lnTo>
                  <a:pt x="9129369" y="6490353"/>
                </a:lnTo>
                <a:lnTo>
                  <a:pt x="0" y="6490353"/>
                </a:lnTo>
                <a:lnTo>
                  <a:pt x="0" y="0"/>
                </a:lnTo>
                <a:close/>
              </a:path>
            </a:pathLst>
          </a:custGeom>
          <a:blipFill>
            <a:blip r:embed="rId8"/>
            <a:stretch>
              <a:fillRect/>
            </a:stretch>
          </a:blipFill>
        </p:spPr>
        <p:txBody>
          <a:bodyPr/>
          <a:lstStyle/>
          <a:p>
            <a:endParaRPr lang="en-GB"/>
          </a:p>
        </p:txBody>
      </p:sp>
      <p:sp>
        <p:nvSpPr>
          <p:cNvPr id="11" name="Freeform 11"/>
          <p:cNvSpPr/>
          <p:nvPr/>
        </p:nvSpPr>
        <p:spPr>
          <a:xfrm>
            <a:off x="2085135" y="7696722"/>
            <a:ext cx="4440121" cy="1079041"/>
          </a:xfrm>
          <a:custGeom>
            <a:avLst/>
            <a:gdLst/>
            <a:ahLst/>
            <a:cxnLst/>
            <a:rect l="l" t="t" r="r" b="b"/>
            <a:pathLst>
              <a:path w="4440121" h="1079041">
                <a:moveTo>
                  <a:pt x="0" y="0"/>
                </a:moveTo>
                <a:lnTo>
                  <a:pt x="4440121" y="0"/>
                </a:lnTo>
                <a:lnTo>
                  <a:pt x="4440121" y="1079041"/>
                </a:lnTo>
                <a:lnTo>
                  <a:pt x="0" y="1079041"/>
                </a:lnTo>
                <a:lnTo>
                  <a:pt x="0" y="0"/>
                </a:lnTo>
                <a:close/>
              </a:path>
            </a:pathLst>
          </a:custGeom>
          <a:blipFill>
            <a:blip r:embed="rId9"/>
            <a:stretch>
              <a:fillRect r="-7182"/>
            </a:stretch>
          </a:blipFill>
        </p:spPr>
        <p:txBody>
          <a:bodyPr/>
          <a:lstStyle/>
          <a:p>
            <a:endParaRPr lang="en-GB"/>
          </a:p>
        </p:txBody>
      </p:sp>
      <p:sp>
        <p:nvSpPr>
          <p:cNvPr id="12" name="Freeform 12"/>
          <p:cNvSpPr/>
          <p:nvPr/>
        </p:nvSpPr>
        <p:spPr>
          <a:xfrm>
            <a:off x="2129444" y="8792711"/>
            <a:ext cx="7323873" cy="931178"/>
          </a:xfrm>
          <a:custGeom>
            <a:avLst/>
            <a:gdLst/>
            <a:ahLst/>
            <a:cxnLst/>
            <a:rect l="l" t="t" r="r" b="b"/>
            <a:pathLst>
              <a:path w="7323873" h="931178">
                <a:moveTo>
                  <a:pt x="0" y="0"/>
                </a:moveTo>
                <a:lnTo>
                  <a:pt x="7323874" y="0"/>
                </a:lnTo>
                <a:lnTo>
                  <a:pt x="7323874" y="931178"/>
                </a:lnTo>
                <a:lnTo>
                  <a:pt x="0" y="931178"/>
                </a:lnTo>
                <a:lnTo>
                  <a:pt x="0" y="0"/>
                </a:lnTo>
                <a:close/>
              </a:path>
            </a:pathLst>
          </a:custGeom>
          <a:blipFill>
            <a:blip r:embed="rId10"/>
            <a:stretch>
              <a:fillRect/>
            </a:stretch>
          </a:blipFill>
        </p:spPr>
        <p:txBody>
          <a:bodyPr/>
          <a:lstStyle/>
          <a:p>
            <a:endParaRPr lang="en-GB"/>
          </a:p>
        </p:txBody>
      </p:sp>
      <p:sp>
        <p:nvSpPr>
          <p:cNvPr id="13" name="TextBox 13"/>
          <p:cNvSpPr txBox="1"/>
          <p:nvPr/>
        </p:nvSpPr>
        <p:spPr>
          <a:xfrm>
            <a:off x="11348103" y="1232100"/>
            <a:ext cx="8911504" cy="984250"/>
          </a:xfrm>
          <a:prstGeom prst="rect">
            <a:avLst/>
          </a:prstGeom>
        </p:spPr>
        <p:txBody>
          <a:bodyPr lIns="0" tIns="0" rIns="0" bIns="0" rtlCol="0" anchor="t">
            <a:spAutoFit/>
          </a:bodyPr>
          <a:lstStyle/>
          <a:p>
            <a:pPr algn="l">
              <a:lnSpc>
                <a:spcPts val="7699"/>
              </a:lnSpc>
              <a:spcBef>
                <a:spcPct val="0"/>
              </a:spcBef>
            </a:pPr>
            <a:r>
              <a:rPr lang="en-US" sz="5499" b="1">
                <a:solidFill>
                  <a:srgbClr val="B6F61A"/>
                </a:solidFill>
                <a:latin typeface="Poppins Bold"/>
                <a:ea typeface="Poppins Bold"/>
                <a:cs typeface="Poppins Bold"/>
                <a:sym typeface="Poppins Bold"/>
              </a:rPr>
              <a:t>AI</a:t>
            </a:r>
          </a:p>
        </p:txBody>
      </p:sp>
      <p:sp>
        <p:nvSpPr>
          <p:cNvPr id="14" name="TextBox 14"/>
          <p:cNvSpPr txBox="1"/>
          <p:nvPr/>
        </p:nvSpPr>
        <p:spPr>
          <a:xfrm>
            <a:off x="11348103" y="2121100"/>
            <a:ext cx="5401401" cy="599447"/>
          </a:xfrm>
          <a:prstGeom prst="rect">
            <a:avLst/>
          </a:prstGeom>
        </p:spPr>
        <p:txBody>
          <a:bodyPr lIns="0" tIns="0" rIns="0" bIns="0" rtlCol="0" anchor="t">
            <a:spAutoFit/>
          </a:bodyPr>
          <a:lstStyle/>
          <a:p>
            <a:pPr algn="l">
              <a:lnSpc>
                <a:spcPts val="4667"/>
              </a:lnSpc>
              <a:spcBef>
                <a:spcPct val="0"/>
              </a:spcBef>
            </a:pPr>
            <a:r>
              <a:rPr lang="en-US" sz="3333">
                <a:solidFill>
                  <a:srgbClr val="FFFFFF"/>
                </a:solidFill>
                <a:latin typeface="Poppins"/>
                <a:ea typeface="Poppins"/>
                <a:cs typeface="Poppins"/>
                <a:sym typeface="Poppins"/>
              </a:rPr>
              <a:t>DECISION-MAKING</a:t>
            </a:r>
          </a:p>
        </p:txBody>
      </p:sp>
      <p:sp>
        <p:nvSpPr>
          <p:cNvPr id="15" name="TextBox 15"/>
          <p:cNvSpPr txBox="1"/>
          <p:nvPr/>
        </p:nvSpPr>
        <p:spPr>
          <a:xfrm>
            <a:off x="11214504" y="4009166"/>
            <a:ext cx="6705460" cy="2211519"/>
          </a:xfrm>
          <a:prstGeom prst="rect">
            <a:avLst/>
          </a:prstGeom>
        </p:spPr>
        <p:txBody>
          <a:bodyPr lIns="0" tIns="0" rIns="0" bIns="0" rtlCol="0" anchor="t">
            <a:spAutoFit/>
          </a:bodyPr>
          <a:lstStyle/>
          <a:p>
            <a:pPr marL="390205" lvl="1" indent="-195103" algn="l">
              <a:lnSpc>
                <a:spcPts val="2530"/>
              </a:lnSpc>
              <a:buFont typeface="Arial"/>
              <a:buChar char="•"/>
            </a:pPr>
            <a:r>
              <a:rPr lang="en-US" sz="1807">
                <a:solidFill>
                  <a:srgbClr val="FFFFFF"/>
                </a:solidFill>
                <a:latin typeface="Poppins"/>
                <a:ea typeface="Poppins"/>
                <a:cs typeface="Poppins"/>
                <a:sym typeface="Poppins"/>
              </a:rPr>
              <a:t>THE AI_MOVE() AND MINIMAX() FUNCTIONS IMPLEMENT AI LOGIC TO DETERMINE THE BEST MOVE FOR THE SNAKE.</a:t>
            </a:r>
          </a:p>
          <a:p>
            <a:pPr algn="l">
              <a:lnSpc>
                <a:spcPts val="2530"/>
              </a:lnSpc>
            </a:pPr>
            <a:endParaRPr lang="en-US" sz="1807">
              <a:solidFill>
                <a:srgbClr val="FFFFFF"/>
              </a:solidFill>
              <a:latin typeface="Poppins"/>
              <a:ea typeface="Poppins"/>
              <a:cs typeface="Poppins"/>
              <a:sym typeface="Poppins"/>
            </a:endParaRPr>
          </a:p>
          <a:p>
            <a:pPr marL="390205" lvl="1" indent="-195103" algn="l">
              <a:lnSpc>
                <a:spcPts val="2530"/>
              </a:lnSpc>
              <a:buFont typeface="Arial"/>
              <a:buChar char="•"/>
            </a:pPr>
            <a:r>
              <a:rPr lang="en-US" sz="1807">
                <a:solidFill>
                  <a:srgbClr val="FFFFFF"/>
                </a:solidFill>
                <a:latin typeface="Poppins"/>
                <a:ea typeface="Poppins"/>
                <a:cs typeface="Poppins"/>
                <a:sym typeface="Poppins"/>
              </a:rPr>
              <a:t>THIS SOFTWARE FEATURE ADDS INTELLIGENCE TO THE GAME, ALLOWING THE SNAKE TO AUTOMATICALLY NAVIGATE TOWARD THE FOOD WHILE AVOIDING OBSTACLES.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5339161">
            <a:off x="-2921756" y="-2940431"/>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395661" y="329621"/>
            <a:ext cx="1693979" cy="1472137"/>
          </a:xfrm>
          <a:custGeom>
            <a:avLst/>
            <a:gdLst/>
            <a:ahLst/>
            <a:cxnLst/>
            <a:rect l="l" t="t" r="r" b="b"/>
            <a:pathLst>
              <a:path w="1693979" h="1472137">
                <a:moveTo>
                  <a:pt x="0" y="0"/>
                </a:moveTo>
                <a:lnTo>
                  <a:pt x="1693979" y="0"/>
                </a:lnTo>
                <a:lnTo>
                  <a:pt x="1693979" y="1472137"/>
                </a:lnTo>
                <a:lnTo>
                  <a:pt x="0" y="1472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10090965">
            <a:off x="-1783347" y="8087572"/>
            <a:ext cx="4370918" cy="4398856"/>
          </a:xfrm>
          <a:custGeom>
            <a:avLst/>
            <a:gdLst/>
            <a:ahLst/>
            <a:cxnLst/>
            <a:rect l="l" t="t" r="r" b="b"/>
            <a:pathLst>
              <a:path w="4370918" h="4398856">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7932697" flipH="1">
            <a:off x="467093" y="8687001"/>
            <a:ext cx="1123215" cy="1953417"/>
          </a:xfrm>
          <a:custGeom>
            <a:avLst/>
            <a:gdLst/>
            <a:ahLst/>
            <a:cxnLst/>
            <a:rect l="l" t="t" r="r" b="b"/>
            <a:pathLst>
              <a:path w="1123215" h="1953417">
                <a:moveTo>
                  <a:pt x="1123214" y="0"/>
                </a:moveTo>
                <a:lnTo>
                  <a:pt x="0" y="0"/>
                </a:lnTo>
                <a:lnTo>
                  <a:pt x="0" y="1953417"/>
                </a:lnTo>
                <a:lnTo>
                  <a:pt x="1123214" y="1953417"/>
                </a:lnTo>
                <a:lnTo>
                  <a:pt x="112321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rot="2867302" flipH="1">
            <a:off x="16506070" y="-261716"/>
            <a:ext cx="1362984" cy="2370408"/>
          </a:xfrm>
          <a:custGeom>
            <a:avLst/>
            <a:gdLst/>
            <a:ahLst/>
            <a:cxnLst/>
            <a:rect l="l" t="t" r="r" b="b"/>
            <a:pathLst>
              <a:path w="1362984" h="2370408">
                <a:moveTo>
                  <a:pt x="1362984" y="0"/>
                </a:moveTo>
                <a:lnTo>
                  <a:pt x="0" y="0"/>
                </a:lnTo>
                <a:lnTo>
                  <a:pt x="0" y="2370407"/>
                </a:lnTo>
                <a:lnTo>
                  <a:pt x="1362984" y="2370407"/>
                </a:lnTo>
                <a:lnTo>
                  <a:pt x="136298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Freeform 8"/>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3932798" y="3125937"/>
            <a:ext cx="11185888" cy="2286618"/>
          </a:xfrm>
          <a:custGeom>
            <a:avLst/>
            <a:gdLst/>
            <a:ahLst/>
            <a:cxnLst/>
            <a:rect l="l" t="t" r="r" b="b"/>
            <a:pathLst>
              <a:path w="11185888" h="2286618">
                <a:moveTo>
                  <a:pt x="0" y="0"/>
                </a:moveTo>
                <a:lnTo>
                  <a:pt x="11185888" y="0"/>
                </a:lnTo>
                <a:lnTo>
                  <a:pt x="11185888" y="2286618"/>
                </a:lnTo>
                <a:lnTo>
                  <a:pt x="0" y="2286618"/>
                </a:lnTo>
                <a:lnTo>
                  <a:pt x="0" y="0"/>
                </a:lnTo>
                <a:close/>
              </a:path>
            </a:pathLst>
          </a:custGeom>
          <a:blipFill>
            <a:blip r:embed="rId8"/>
            <a:stretch>
              <a:fillRect/>
            </a:stretch>
          </a:blipFill>
        </p:spPr>
        <p:txBody>
          <a:bodyPr/>
          <a:lstStyle/>
          <a:p>
            <a:endParaRPr lang="en-GB"/>
          </a:p>
        </p:txBody>
      </p:sp>
      <p:sp>
        <p:nvSpPr>
          <p:cNvPr id="11" name="TextBox 11"/>
          <p:cNvSpPr txBox="1"/>
          <p:nvPr/>
        </p:nvSpPr>
        <p:spPr>
          <a:xfrm>
            <a:off x="2773349" y="177221"/>
            <a:ext cx="13078495" cy="984250"/>
          </a:xfrm>
          <a:prstGeom prst="rect">
            <a:avLst/>
          </a:prstGeom>
        </p:spPr>
        <p:txBody>
          <a:bodyPr lIns="0" tIns="0" rIns="0" bIns="0" rtlCol="0" anchor="t">
            <a:spAutoFit/>
          </a:bodyPr>
          <a:lstStyle/>
          <a:p>
            <a:pPr algn="ctr">
              <a:lnSpc>
                <a:spcPts val="7699"/>
              </a:lnSpc>
              <a:spcBef>
                <a:spcPct val="0"/>
              </a:spcBef>
            </a:pPr>
            <a:r>
              <a:rPr lang="en-US" sz="5499" b="1">
                <a:solidFill>
                  <a:srgbClr val="B6F61A"/>
                </a:solidFill>
                <a:latin typeface="Poppins Bold"/>
                <a:ea typeface="Poppins Bold"/>
                <a:cs typeface="Poppins Bold"/>
                <a:sym typeface="Poppins Bold"/>
              </a:rPr>
              <a:t>USER INTERFACE</a:t>
            </a:r>
          </a:p>
        </p:txBody>
      </p:sp>
      <p:sp>
        <p:nvSpPr>
          <p:cNvPr id="12" name="TextBox 12"/>
          <p:cNvSpPr txBox="1"/>
          <p:nvPr/>
        </p:nvSpPr>
        <p:spPr>
          <a:xfrm>
            <a:off x="4389938" y="6172358"/>
            <a:ext cx="9508123" cy="2961862"/>
          </a:xfrm>
          <a:prstGeom prst="rect">
            <a:avLst/>
          </a:prstGeom>
        </p:spPr>
        <p:txBody>
          <a:bodyPr lIns="0" tIns="0" rIns="0" bIns="0" rtlCol="0" anchor="t">
            <a:spAutoFit/>
          </a:bodyPr>
          <a:lstStyle/>
          <a:p>
            <a:pPr algn="l">
              <a:lnSpc>
                <a:spcPts val="3355"/>
              </a:lnSpc>
            </a:pPr>
            <a:endParaRPr/>
          </a:p>
          <a:p>
            <a:pPr marL="517406" lvl="1" indent="-258703" algn="l">
              <a:lnSpc>
                <a:spcPts val="3355"/>
              </a:lnSpc>
              <a:buFont typeface="Arial"/>
              <a:buChar char="•"/>
            </a:pPr>
            <a:r>
              <a:rPr lang="en-US" sz="2396">
                <a:solidFill>
                  <a:srgbClr val="FFFFFF"/>
                </a:solidFill>
                <a:latin typeface="Poppins"/>
                <a:ea typeface="Poppins"/>
                <a:cs typeface="Poppins"/>
                <a:sym typeface="Poppins"/>
              </a:rPr>
              <a:t>THE MESSAGE() FUNCTION HANDLES USER INTERFACE ELEMENTS BY RENDERING TEXT (E.G., GAME OVER MESSAGES AND SCORES) ON THE SCREEN.</a:t>
            </a:r>
          </a:p>
          <a:p>
            <a:pPr algn="l">
              <a:lnSpc>
                <a:spcPts val="3355"/>
              </a:lnSpc>
            </a:pPr>
            <a:endParaRPr lang="en-US" sz="2396">
              <a:solidFill>
                <a:srgbClr val="FFFFFF"/>
              </a:solidFill>
              <a:latin typeface="Poppins"/>
              <a:ea typeface="Poppins"/>
              <a:cs typeface="Poppins"/>
              <a:sym typeface="Poppins"/>
            </a:endParaRPr>
          </a:p>
          <a:p>
            <a:pPr marL="517406" lvl="1" indent="-258703" algn="l">
              <a:lnSpc>
                <a:spcPts val="3355"/>
              </a:lnSpc>
              <a:buFont typeface="Arial"/>
              <a:buChar char="•"/>
            </a:pPr>
            <a:r>
              <a:rPr lang="en-US" sz="2396">
                <a:solidFill>
                  <a:srgbClr val="FFFFFF"/>
                </a:solidFill>
                <a:latin typeface="Poppins"/>
                <a:ea typeface="Poppins"/>
                <a:cs typeface="Poppins"/>
                <a:sym typeface="Poppins"/>
              </a:rPr>
              <a:t>IT IMPROVES USER INTERACTION BY PROVIDING FEEDBACK AND INSTRUCTIONS.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D25"/>
        </a:solidFill>
        <a:effectLst/>
      </p:bgPr>
    </p:bg>
    <p:spTree>
      <p:nvGrpSpPr>
        <p:cNvPr id="1" name=""/>
        <p:cNvGrpSpPr/>
        <p:nvPr/>
      </p:nvGrpSpPr>
      <p:grpSpPr>
        <a:xfrm>
          <a:off x="0" y="0"/>
          <a:ext cx="0" cy="0"/>
          <a:chOff x="0" y="0"/>
          <a:chExt cx="0" cy="0"/>
        </a:xfrm>
      </p:grpSpPr>
      <p:sp>
        <p:nvSpPr>
          <p:cNvPr id="2" name="Freeform 2"/>
          <p:cNvSpPr/>
          <p:nvPr/>
        </p:nvSpPr>
        <p:spPr>
          <a:xfrm rot="-709034">
            <a:off x="15939368" y="-1775030"/>
            <a:ext cx="4101281" cy="4127494"/>
          </a:xfrm>
          <a:custGeom>
            <a:avLst/>
            <a:gdLst/>
            <a:ahLst/>
            <a:cxnLst/>
            <a:rect l="l" t="t" r="r" b="b"/>
            <a:pathLst>
              <a:path w="4101281" h="4127494">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2867302" flipH="1">
            <a:off x="16716066" y="-283805"/>
            <a:ext cx="1103128" cy="1918484"/>
          </a:xfrm>
          <a:custGeom>
            <a:avLst/>
            <a:gdLst/>
            <a:ahLst/>
            <a:cxnLst/>
            <a:rect l="l" t="t" r="r" b="b"/>
            <a:pathLst>
              <a:path w="1103128" h="1918484">
                <a:moveTo>
                  <a:pt x="1103128" y="0"/>
                </a:moveTo>
                <a:lnTo>
                  <a:pt x="0" y="0"/>
                </a:lnTo>
                <a:lnTo>
                  <a:pt x="0" y="1918484"/>
                </a:lnTo>
                <a:lnTo>
                  <a:pt x="1103128" y="1918484"/>
                </a:lnTo>
                <a:lnTo>
                  <a:pt x="110312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rot="5460838">
            <a:off x="16206000" y="8105968"/>
            <a:ext cx="4164000" cy="4190615"/>
          </a:xfrm>
          <a:custGeom>
            <a:avLst/>
            <a:gdLst/>
            <a:ahLst/>
            <a:cxnLst/>
            <a:rect l="l" t="t" r="r" b="b"/>
            <a:pathLst>
              <a:path w="4164000" h="4190615">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rot="-10800000">
            <a:off x="16319057" y="8500319"/>
            <a:ext cx="1687000" cy="1466073"/>
          </a:xfrm>
          <a:custGeom>
            <a:avLst/>
            <a:gdLst/>
            <a:ahLst/>
            <a:cxnLst/>
            <a:rect l="l" t="t" r="r" b="b"/>
            <a:pathLst>
              <a:path w="1687000" h="1466073">
                <a:moveTo>
                  <a:pt x="0" y="0"/>
                </a:moveTo>
                <a:lnTo>
                  <a:pt x="1687001" y="0"/>
                </a:lnTo>
                <a:lnTo>
                  <a:pt x="1687001" y="1466073"/>
                </a:lnTo>
                <a:lnTo>
                  <a:pt x="0" y="14660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TextBox 6"/>
          <p:cNvSpPr txBox="1"/>
          <p:nvPr/>
        </p:nvSpPr>
        <p:spPr>
          <a:xfrm>
            <a:off x="6665855" y="876300"/>
            <a:ext cx="5295239" cy="984250"/>
          </a:xfrm>
          <a:prstGeom prst="rect">
            <a:avLst/>
          </a:prstGeom>
        </p:spPr>
        <p:txBody>
          <a:bodyPr lIns="0" tIns="0" rIns="0" bIns="0" rtlCol="0" anchor="t">
            <a:spAutoFit/>
          </a:bodyPr>
          <a:lstStyle/>
          <a:p>
            <a:pPr algn="l">
              <a:lnSpc>
                <a:spcPts val="7699"/>
              </a:lnSpc>
              <a:spcBef>
                <a:spcPct val="0"/>
              </a:spcBef>
            </a:pPr>
            <a:r>
              <a:rPr lang="en-US" sz="5499" b="1">
                <a:solidFill>
                  <a:srgbClr val="B6F61A"/>
                </a:solidFill>
                <a:latin typeface="Poppins Bold"/>
                <a:ea typeface="Poppins Bold"/>
                <a:cs typeface="Poppins Bold"/>
                <a:sym typeface="Poppins Bold"/>
              </a:rPr>
              <a:t>CONCLUSION</a:t>
            </a:r>
          </a:p>
        </p:txBody>
      </p:sp>
      <p:sp>
        <p:nvSpPr>
          <p:cNvPr id="7" name="TextBox 7"/>
          <p:cNvSpPr txBox="1"/>
          <p:nvPr/>
        </p:nvSpPr>
        <p:spPr>
          <a:xfrm>
            <a:off x="605305" y="3099022"/>
            <a:ext cx="17743385" cy="4556005"/>
          </a:xfrm>
          <a:prstGeom prst="rect">
            <a:avLst/>
          </a:prstGeom>
        </p:spPr>
        <p:txBody>
          <a:bodyPr lIns="0" tIns="0" rIns="0" bIns="0" rtlCol="0" anchor="t">
            <a:spAutoFit/>
          </a:bodyPr>
          <a:lstStyle/>
          <a:p>
            <a:pPr algn="l">
              <a:lnSpc>
                <a:spcPts val="2981"/>
              </a:lnSpc>
              <a:spcBef>
                <a:spcPct val="0"/>
              </a:spcBef>
            </a:pPr>
            <a:r>
              <a:rPr lang="en-US" sz="2129">
                <a:solidFill>
                  <a:srgbClr val="FFFFFF"/>
                </a:solidFill>
                <a:latin typeface="Poppins"/>
                <a:ea typeface="Poppins"/>
                <a:cs typeface="Poppins"/>
                <a:sym typeface="Poppins"/>
              </a:rPr>
              <a:t>THE SNAKE GAME IS A TESTAMENT TO THE HARMONIOUS INTEGRATION OF SOFTWARE AND HARDWARE COMPONENTS TO DELIVER AN ENGAGING USER EXPERIENCE. BY LEVERAGING HARDWARE SUCH AS THE CPU, GPU, KEYBOARD, AND DISPLAY, ALONGSIDE CAREFULLY DESIGNED SOFTWARE LOGIC, WE CREATE A RESPONSIVE AND VISUALLY APPEALING GAME.</a:t>
            </a:r>
          </a:p>
          <a:p>
            <a:pPr algn="l">
              <a:lnSpc>
                <a:spcPts val="2981"/>
              </a:lnSpc>
              <a:spcBef>
                <a:spcPct val="0"/>
              </a:spcBef>
            </a:pPr>
            <a:endParaRPr lang="en-US" sz="2129">
              <a:solidFill>
                <a:srgbClr val="FFFFFF"/>
              </a:solidFill>
              <a:latin typeface="Poppins"/>
              <a:ea typeface="Poppins"/>
              <a:cs typeface="Poppins"/>
              <a:sym typeface="Poppins"/>
            </a:endParaRPr>
          </a:p>
          <a:p>
            <a:pPr algn="l">
              <a:lnSpc>
                <a:spcPts val="3681"/>
              </a:lnSpc>
              <a:spcBef>
                <a:spcPct val="0"/>
              </a:spcBef>
            </a:pPr>
            <a:r>
              <a:rPr lang="en-US" sz="2629" b="1">
                <a:solidFill>
                  <a:srgbClr val="A5E800"/>
                </a:solidFill>
                <a:latin typeface="Poppins Bold"/>
                <a:ea typeface="Poppins Bold"/>
                <a:cs typeface="Poppins Bold"/>
                <a:sym typeface="Poppins Bold"/>
              </a:rPr>
              <a:t>KEY TAKEAWAYS INCLUDE:</a:t>
            </a:r>
          </a:p>
          <a:p>
            <a:pPr algn="l">
              <a:lnSpc>
                <a:spcPts val="2981"/>
              </a:lnSpc>
              <a:spcBef>
                <a:spcPct val="0"/>
              </a:spcBef>
            </a:pPr>
            <a:endParaRPr lang="en-US" sz="2629" b="1">
              <a:solidFill>
                <a:srgbClr val="A5E800"/>
              </a:solidFill>
              <a:latin typeface="Poppins Bold"/>
              <a:ea typeface="Poppins Bold"/>
              <a:cs typeface="Poppins Bold"/>
              <a:sym typeface="Poppins Bold"/>
            </a:endParaRPr>
          </a:p>
          <a:p>
            <a:pPr marL="459804" lvl="1" indent="-229902" algn="l">
              <a:lnSpc>
                <a:spcPts val="2981"/>
              </a:lnSpc>
              <a:buFont typeface="Arial"/>
              <a:buChar char="•"/>
            </a:pPr>
            <a:r>
              <a:rPr lang="en-US" sz="2129">
                <a:solidFill>
                  <a:srgbClr val="FFFFFF"/>
                </a:solidFill>
                <a:latin typeface="Poppins"/>
                <a:ea typeface="Poppins"/>
                <a:cs typeface="Poppins"/>
                <a:sym typeface="Poppins"/>
              </a:rPr>
              <a:t>THE IMPORTANCE OF EFFICIENT HARDWARE INTERACTION TO ENSURE SMOOTH PERFORMANCE.</a:t>
            </a:r>
          </a:p>
          <a:p>
            <a:pPr marL="459804" lvl="1" indent="-229902" algn="l">
              <a:lnSpc>
                <a:spcPts val="2981"/>
              </a:lnSpc>
              <a:buFont typeface="Arial"/>
              <a:buChar char="•"/>
            </a:pPr>
            <a:r>
              <a:rPr lang="en-US" sz="2129">
                <a:solidFill>
                  <a:srgbClr val="FFFFFF"/>
                </a:solidFill>
                <a:latin typeface="Poppins"/>
                <a:ea typeface="Poppins"/>
                <a:cs typeface="Poppins"/>
                <a:sym typeface="Poppins"/>
              </a:rPr>
              <a:t>THE ROLE OF SOFTWARE DESIGN, SUCH AS GAME LOGIC, AI, AND GRAPHICAL RENDERING, IN DEFINING THE USER EXPERIENCE.</a:t>
            </a:r>
          </a:p>
          <a:p>
            <a:pPr marL="459804" lvl="1" indent="-229902" algn="l">
              <a:lnSpc>
                <a:spcPts val="2981"/>
              </a:lnSpc>
              <a:buFont typeface="Arial"/>
              <a:buChar char="•"/>
            </a:pPr>
            <a:r>
              <a:rPr lang="en-US" sz="2129">
                <a:solidFill>
                  <a:srgbClr val="FFFFFF"/>
                </a:solidFill>
                <a:latin typeface="Poppins"/>
                <a:ea typeface="Poppins"/>
                <a:cs typeface="Poppins"/>
                <a:sym typeface="Poppins"/>
              </a:rPr>
              <a:t>HOW COLLABORATION BETWEEN THESE LAYERS RESULTS IN A SEAMLESS GAMING ENVIRONMENT.</a:t>
            </a:r>
          </a:p>
          <a:p>
            <a:pPr algn="l">
              <a:lnSpc>
                <a:spcPts val="2981"/>
              </a:lnSpc>
              <a:spcBef>
                <a:spcPct val="0"/>
              </a:spcBef>
            </a:pPr>
            <a:endParaRPr lang="en-US" sz="2129">
              <a:solidFill>
                <a:srgbClr val="FFFFFF"/>
              </a:solidFill>
              <a:latin typeface="Poppins"/>
              <a:ea typeface="Poppins"/>
              <a:cs typeface="Poppins"/>
              <a:sym typeface="Poppins"/>
            </a:endParaRPr>
          </a:p>
          <a:p>
            <a:pPr algn="l">
              <a:lnSpc>
                <a:spcPts val="2981"/>
              </a:lnSpc>
              <a:spcBef>
                <a:spcPct val="0"/>
              </a:spcBef>
            </a:pPr>
            <a:r>
              <a:rPr lang="en-US" sz="2129">
                <a:solidFill>
                  <a:srgbClr val="FFFFFF"/>
                </a:solidFill>
                <a:latin typeface="Poppins"/>
                <a:ea typeface="Poppins"/>
                <a:cs typeface="Poppins"/>
                <a:sym typeface="Poppins"/>
              </a:rPr>
              <a:t>THIS PROJECT NOT ONLY DEMONSTRATES THE FUNDAMENTALS OF GAME DEVELOPMENT BUT ALSO HIGHLIGHTS HOW COMPUTATIONAL POWER AND PROGRAMMING COME TOGETHER TO TURN IDEAS INTO REALITY. THANK YOU!</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333" b="-2333"/>
            </a:stretch>
          </a:blipFill>
        </p:spPr>
        <p:txBody>
          <a:bodyPr/>
          <a:lstStyle/>
          <a:p>
            <a:endParaRPr lang="en-GB"/>
          </a:p>
        </p:txBody>
      </p:sp>
      <p:sp>
        <p:nvSpPr>
          <p:cNvPr id="3" name="Freeform 3"/>
          <p:cNvSpPr/>
          <p:nvPr/>
        </p:nvSpPr>
        <p:spPr>
          <a:xfrm rot="-709034">
            <a:off x="14399578" y="-2199651"/>
            <a:ext cx="5843512" cy="5880861"/>
          </a:xfrm>
          <a:custGeom>
            <a:avLst/>
            <a:gdLst/>
            <a:ahLst/>
            <a:cxnLst/>
            <a:rect l="l" t="t" r="r" b="b"/>
            <a:pathLst>
              <a:path w="5843512" h="5880861">
                <a:moveTo>
                  <a:pt x="0" y="0"/>
                </a:moveTo>
                <a:lnTo>
                  <a:pt x="5843511" y="0"/>
                </a:lnTo>
                <a:lnTo>
                  <a:pt x="5843511" y="5880861"/>
                </a:lnTo>
                <a:lnTo>
                  <a:pt x="0" y="58808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rot="2867302" flipH="1">
            <a:off x="14995002" y="-412199"/>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rot="5460838">
            <a:off x="14891406" y="6807481"/>
            <a:ext cx="6392809" cy="6433669"/>
          </a:xfrm>
          <a:custGeom>
            <a:avLst/>
            <a:gdLst/>
            <a:ahLst/>
            <a:cxnLst/>
            <a:rect l="l" t="t" r="r" b="b"/>
            <a:pathLst>
              <a:path w="6392809" h="6433669">
                <a:moveTo>
                  <a:pt x="0" y="0"/>
                </a:moveTo>
                <a:lnTo>
                  <a:pt x="6392808" y="0"/>
                </a:lnTo>
                <a:lnTo>
                  <a:pt x="6392808" y="6433669"/>
                </a:lnTo>
                <a:lnTo>
                  <a:pt x="0" y="64336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10800000">
            <a:off x="15064977" y="7412911"/>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7" name="Freeform 7"/>
          <p:cNvSpPr/>
          <p:nvPr/>
        </p:nvSpPr>
        <p:spPr>
          <a:xfrm rot="10090965">
            <a:off x="-2007843" y="6460378"/>
            <a:ext cx="5843512" cy="5880861"/>
          </a:xfrm>
          <a:custGeom>
            <a:avLst/>
            <a:gdLst/>
            <a:ahLst/>
            <a:cxnLst/>
            <a:rect l="l" t="t" r="r" b="b"/>
            <a:pathLst>
              <a:path w="5843512" h="5880861">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8" name="Freeform 8"/>
          <p:cNvSpPr/>
          <p:nvPr/>
        </p:nvSpPr>
        <p:spPr>
          <a:xfrm rot="-7932697" flipH="1">
            <a:off x="874234" y="6438987"/>
            <a:ext cx="2366010" cy="4114800"/>
          </a:xfrm>
          <a:custGeom>
            <a:avLst/>
            <a:gdLst/>
            <a:ahLst/>
            <a:cxnLst/>
            <a:rect l="l" t="t" r="r" b="b"/>
            <a:pathLst>
              <a:path w="2366010" h="4114800">
                <a:moveTo>
                  <a:pt x="2366010" y="0"/>
                </a:moveTo>
                <a:lnTo>
                  <a:pt x="0" y="0"/>
                </a:lnTo>
                <a:lnTo>
                  <a:pt x="0" y="4114800"/>
                </a:lnTo>
                <a:lnTo>
                  <a:pt x="2366010" y="4114800"/>
                </a:lnTo>
                <a:lnTo>
                  <a:pt x="236601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 name="Freeform 9"/>
          <p:cNvSpPr/>
          <p:nvPr/>
        </p:nvSpPr>
        <p:spPr>
          <a:xfrm rot="-5339161">
            <a:off x="-3048968" y="-3099562"/>
            <a:ext cx="6392809" cy="6433669"/>
          </a:xfrm>
          <a:custGeom>
            <a:avLst/>
            <a:gdLst/>
            <a:ahLst/>
            <a:cxnLst/>
            <a:rect l="l" t="t" r="r" b="b"/>
            <a:pathLst>
              <a:path w="6392809" h="6433669">
                <a:moveTo>
                  <a:pt x="0" y="0"/>
                </a:moveTo>
                <a:lnTo>
                  <a:pt x="6392809" y="0"/>
                </a:lnTo>
                <a:lnTo>
                  <a:pt x="6392809" y="6433670"/>
                </a:lnTo>
                <a:lnTo>
                  <a:pt x="0" y="64336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0" name="Freeform 10"/>
          <p:cNvSpPr/>
          <p:nvPr/>
        </p:nvSpPr>
        <p:spPr>
          <a:xfrm>
            <a:off x="580290" y="477879"/>
            <a:ext cx="2589979" cy="2250798"/>
          </a:xfrm>
          <a:custGeom>
            <a:avLst/>
            <a:gdLst/>
            <a:ahLst/>
            <a:cxnLst/>
            <a:rect l="l" t="t" r="r" b="b"/>
            <a:pathLst>
              <a:path w="2589979" h="2250798">
                <a:moveTo>
                  <a:pt x="0" y="0"/>
                </a:moveTo>
                <a:lnTo>
                  <a:pt x="2589979" y="0"/>
                </a:lnTo>
                <a:lnTo>
                  <a:pt x="2589979" y="2250798"/>
                </a:lnTo>
                <a:lnTo>
                  <a:pt x="0" y="225079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1" name="TextBox 11"/>
          <p:cNvSpPr txBox="1"/>
          <p:nvPr/>
        </p:nvSpPr>
        <p:spPr>
          <a:xfrm>
            <a:off x="1028700" y="3391804"/>
            <a:ext cx="16230600" cy="2846062"/>
          </a:xfrm>
          <a:prstGeom prst="rect">
            <a:avLst/>
          </a:prstGeom>
        </p:spPr>
        <p:txBody>
          <a:bodyPr lIns="0" tIns="0" rIns="0" bIns="0" rtlCol="0" anchor="t">
            <a:spAutoFit/>
          </a:bodyPr>
          <a:lstStyle/>
          <a:p>
            <a:pPr algn="ctr">
              <a:lnSpc>
                <a:spcPts val="21988"/>
              </a:lnSpc>
              <a:spcBef>
                <a:spcPct val="0"/>
              </a:spcBef>
            </a:pPr>
            <a:r>
              <a:rPr lang="en-US" sz="15705">
                <a:solidFill>
                  <a:srgbClr val="FFFFFF"/>
                </a:solidFill>
                <a:latin typeface="Poppins"/>
                <a:ea typeface="Poppins"/>
                <a:cs typeface="Poppins"/>
                <a:sym typeface="Poppins"/>
              </a:rPr>
              <a:t>THANK'S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691</Words>
  <Application>Microsoft Office PowerPoint</Application>
  <PresentationFormat>Custom</PresentationFormat>
  <Paragraphs>60</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Poppins</vt:lpstr>
      <vt:lpstr>Open Sans</vt:lpstr>
      <vt:lpstr>Calibri</vt:lpstr>
      <vt:lpstr>Arial</vt:lpstr>
      <vt:lpstr>Aptos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Organic Shape Animal Conservation Presentation</dc:title>
  <dc:creator>jonathan atef</dc:creator>
  <cp:lastModifiedBy>jonathan atef</cp:lastModifiedBy>
  <cp:revision>2</cp:revision>
  <dcterms:created xsi:type="dcterms:W3CDTF">2006-08-16T00:00:00Z</dcterms:created>
  <dcterms:modified xsi:type="dcterms:W3CDTF">2024-12-20T19:17:53Z</dcterms:modified>
  <dc:identifier>DAGZ1mGwOQg</dc:identifier>
</cp:coreProperties>
</file>